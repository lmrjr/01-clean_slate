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ac2973977d419b" /><Relationship Type="http://schemas.openxmlformats.org/officeDocument/2006/relationships/extended-properties" Target="/docProps/app.xml" Id="R71f6a5ea4c6f48b6" /><Relationship Type="http://schemas.openxmlformats.org/officeDocument/2006/relationships/officeDocument" Target="/ppt/presentation.xml" Id="Rcf033f2dfbb34c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d5e1b7c1c64a45"/>
  </p:sldMasterIdLst>
  <p:notesMasterIdLst>
    <p:notesMasterId xmlns:r="http://schemas.openxmlformats.org/officeDocument/2006/relationships" r:id="Rd6c7ab93ce3b46d6"/>
  </p:notesMasterIdLst>
  <p:sldIdLst>
    <p:sldId xmlns:r="http://schemas.openxmlformats.org/officeDocument/2006/relationships" id="256" r:id="Rad1c343a5ef24409"/>
    <p:sldId xmlns:r="http://schemas.openxmlformats.org/officeDocument/2006/relationships" id="257" r:id="Rd2d6f3682cdc44fe"/>
    <p:sldId xmlns:r="http://schemas.openxmlformats.org/officeDocument/2006/relationships" id="258" r:id="Read5e11e20694305"/>
    <p:sldId xmlns:r="http://schemas.openxmlformats.org/officeDocument/2006/relationships" id="259" r:id="Rbff78702c9a64e9d"/>
    <p:sldId xmlns:r="http://schemas.openxmlformats.org/officeDocument/2006/relationships" id="260" r:id="Rae5d0060966e4081"/>
    <p:sldId xmlns:r="http://schemas.openxmlformats.org/officeDocument/2006/relationships" id="261" r:id="R5b3b5e2136a944db"/>
    <p:sldId xmlns:r="http://schemas.openxmlformats.org/officeDocument/2006/relationships" id="262" r:id="R07b26a41cbd54a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104be917f84c37" /><Relationship Type="http://schemas.openxmlformats.org/officeDocument/2006/relationships/slideMaster" Target="/ppt/slideMasters/slideMaster1.xml" Id="Rbed5e1b7c1c64a45" /><Relationship Type="http://schemas.openxmlformats.org/officeDocument/2006/relationships/notesMaster" Target="/ppt/notesMasters/notesMaster1.xml" Id="Rd6c7ab93ce3b46d6" /><Relationship Type="http://schemas.openxmlformats.org/officeDocument/2006/relationships/presProps" Target="/ppt/presProps.xml" Id="R6b57ba838b1d4f75" /><Relationship Type="http://schemas.openxmlformats.org/officeDocument/2006/relationships/tableStyles" Target="/ppt/tableStyles.xml" Id="Rbc001f3bf99d40eb" /><Relationship Type="http://schemas.openxmlformats.org/officeDocument/2006/relationships/slide" Target="/ppt/slides/slide1.xml" Id="Rad1c343a5ef24409" /><Relationship Type="http://schemas.openxmlformats.org/officeDocument/2006/relationships/slide" Target="/ppt/slides/slide2.xml" Id="Rd2d6f3682cdc44fe" /><Relationship Type="http://schemas.openxmlformats.org/officeDocument/2006/relationships/slide" Target="/ppt/slides/slide3.xml" Id="Read5e11e20694305" /><Relationship Type="http://schemas.openxmlformats.org/officeDocument/2006/relationships/slide" Target="/ppt/slides/slide4.xml" Id="Rbff78702c9a64e9d" /><Relationship Type="http://schemas.openxmlformats.org/officeDocument/2006/relationships/slide" Target="/ppt/slides/slide5.xml" Id="Rae5d0060966e4081" /><Relationship Type="http://schemas.openxmlformats.org/officeDocument/2006/relationships/slide" Target="/ppt/slides/slide6.xml" Id="R5b3b5e2136a944db" /><Relationship Type="http://schemas.openxmlformats.org/officeDocument/2006/relationships/slide" Target="/ppt/slides/slide7.xml" Id="R07b26a41cbd54a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4ef59fe56044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9ed357a70245d0" /><Relationship Type="http://schemas.openxmlformats.org/officeDocument/2006/relationships/notesMaster" Target="/ppt/notesMasters/notesMaster1.xml" Id="R259376d62b0f4e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c11630292b41a1" /><Relationship Type="http://schemas.openxmlformats.org/officeDocument/2006/relationships/notesMaster" Target="/ppt/notesMasters/notesMaster1.xml" Id="Rb341e4abb51348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7ea7638b394848" /><Relationship Type="http://schemas.openxmlformats.org/officeDocument/2006/relationships/notesMaster" Target="/ppt/notesMasters/notesMaster1.xml" Id="Re6ac026a33474b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5c7c61a518489e" /><Relationship Type="http://schemas.openxmlformats.org/officeDocument/2006/relationships/notesMaster" Target="/ppt/notesMasters/notesMaster1.xml" Id="R2acefffe141445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0d147c855c4edc" /><Relationship Type="http://schemas.openxmlformats.org/officeDocument/2006/relationships/notesMaster" Target="/ppt/notesMasters/notesMaster1.xml" Id="R0a2dab01a6b947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11cc88a7224551" /><Relationship Type="http://schemas.openxmlformats.org/officeDocument/2006/relationships/notesMaster" Target="/ppt/notesMasters/notesMaster1.xml" Id="Rfd49c69e61ed48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8d6055ee2c4504" /><Relationship Type="http://schemas.openxmlformats.org/officeDocument/2006/relationships/notesMaster" Target="/ppt/notesMasters/notesMaster1.xml" Id="R3d346637a04b4f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two-part thesis: the pathway difference is large; engagement is promising but observational.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analysis\outputs\tables\nineam_outcomes_by_member_type.csv</a:t>
            </a:r>
          </a:p>
          <a:p xmlns:a="http://schemas.openxmlformats.org/drawingml/2006/main">
            <a:r>
              <a:t>- B:\07_Luis\case-study-9amhealth_CLEAN-SLATE\python analysis\outputs\tables\nineam_lasso_mean_selection.csv</a:t>
            </a:r>
          </a:p>
          <a:p xmlns:a="http://schemas.openxmlformats.org/drawingml/2006/main">
            <a:r>
              <a:t>- B:\07_Luis\case-study-9amhealth_CLEAN-SLATE\python analysis\outputs\tables\nineam_locked_model_coefficients_hc3.csv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leadership through the funnel, then pause on the follow-up imbalance before interpreting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analysis\outputs\tables\nineam_cohort_flow.csv</a:t>
            </a:r>
          </a:p>
          <a:p xmlns:a="http://schemas.openxmlformats.org/drawingml/2006/main">
            <a:r>
              <a:t>- B:\07_Luis\case-study-9amhealth_CLEAN-SLATE\python analysis\outputs\tables\nineam_sample_characteristics.csv</a:t>
            </a:r>
          </a:p>
          <a:p xmlns:a="http://schemas.openxmlformats.org/drawingml/2006/main">
            <a:r>
              <a:t>- B:\07_Luis\case-study-9amhealth_CLEAN-SLATE\python analysis\outputs\tables\nineam_outcomes_by_member_type.csv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model selection is predictive, while the second stage is exploratory explanation—not causal attribution.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analysis\outputs\tables\nineam_base_model_comparison_summary.csv</a:t>
            </a:r>
          </a:p>
          <a:p xmlns:a="http://schemas.openxmlformats.org/drawingml/2006/main">
            <a:r>
              <a:t>- B:\07_Luis\case-study-9amhealth_CLEAN-SLATE\python analysis\outputs\tables\nineam_lasso_mean_selection.csv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responder-rate gap, then explicitly frame it as observational because assignment and follow-up were not 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analysis\outputs\tables\nineam_outcomes_by_member_type.csv</a:t>
            </a:r>
          </a:p>
          <a:p xmlns:a="http://schemas.openxmlformats.org/drawingml/2006/main">
            <a:r>
              <a:t>- B:\07_Luis\case-study-9amhealth_CLEAN-SLATE\python analysis\outputs\tables\nineam_sample_characteristics.csv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the stable aggregate signal from the activity ranking. The ranking is hypothesis-generating and vulnerable to reverse causation.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analysis\outputs\tables\nineam_engagement_by_member_type.csv</a:t>
            </a:r>
          </a:p>
          <a:p xmlns:a="http://schemas.openxmlformats.org/drawingml/2006/main">
            <a:r>
              <a:t>- B:\07_Luis\case-study-9amhealth_CLEAN-SLATE\python analysis\outputs\tables\nineam_engagement_activity_summary.csv</a:t>
            </a:r>
          </a:p>
          <a:p xmlns:a="http://schemas.openxmlformats.org/drawingml/2006/main">
            <a:r>
              <a:t>- B:\07_Luis\case-study-9amhealth_CLEAN-SLATE\python analysis\outputs\tables\nineam_lasso_mean_selection.csv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the coefficients into percentage-point differences, then show that the duration sensitivity preserves the two main signals.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analysis\outputs\tables\nineam_locked_model_coefficients_hc3.csv</a:t>
            </a:r>
          </a:p>
          <a:p xmlns:a="http://schemas.openxmlformats.org/drawingml/2006/main">
            <a:r>
              <a:t>- B:\07_Luis\case-study-9amhealth_CLEAN-SLATE\python analysis\outputs\tables\nineam_locked_model_fit_statistics.csv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actions that convert observational signals into causal evidence: prospective pathways, randomized engagement support, and standardized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analysis\outputs\tables\nineam_findings_and_implications.csv</a:t>
            </a:r>
          </a:p>
          <a:p xmlns:a="http://schemas.openxmlformats.org/drawingml/2006/main">
            <a:r>
              <a:t>- B:\07_Luis\case-study-9amhealth_CLEAN-SLATE\python analysis\outputs\tables\nineam_limitations.csv</a:t>
            </a:r>
          </a:p>
          <a:p xmlns:a="http://schemas.openxmlformats.org/drawingml/2006/main">
            <a:r>
              <a:t>- B:\07_Luis\case-study-9amhealth_CLEAN-SLATE\9amHealth-Data-Analyst-Case--Briefing.md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2858bec2949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d62c39d1e4a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fc78f22b449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3d53836f648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7be19045442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fde0effe34d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aeb987cfa434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8d88182934d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3d9bf58674d0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491aa6ecc426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f8383d1e5445f" /></Relationships>
</file>

<file path=ppt/slideLayouts/slideLayout1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750B34B-0F08-459D-BDB1-211592DCBCD4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0CB7521-7D0E-498B-9536-B068EDD6101D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C781CED-BFCE-454F-B991-BCCA5528483C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EAF28E3-9307-4314-BFD1-33D48C99819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79648F7-AFDD-418C-BE45-7D22C7AC9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1720" cy="114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691EF20-D8E8-410D-9752-807DEF97D9C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172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Content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40131EB-08EB-425D-91C3-0FA553D8EF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2880"/>
            <a:ext cx="3007440" cy="116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85D5DDC-50CD-46A5-A57E-F248130C30D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75160" y="272880"/>
            <a:ext cx="5110920" cy="585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A76C9A3-4852-403C-8319-76781003E58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434960"/>
            <a:ext cx="3007440" cy="469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5E39933-AF15-4B14-A9D8-96DF050875E4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44A7FF1-6EBC-4FFF-969F-92DDC06D1FB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01B9BADD-566A-4D30-9F93-E926FCFC0C84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B30F01-7190-4F28-9103-F115DFFD408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Picture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0881F5A-11FA-4431-9C07-37CAFD1D43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440" y="4800600"/>
            <a:ext cx="5485680" cy="56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50717CD-87EF-49E2-A1E8-7EFBA4DF9DD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612720"/>
            <a:ext cx="5485680" cy="41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B0A437B-7772-44C0-B3FA-C15693BA1F6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5367240"/>
            <a:ext cx="5485680" cy="804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6C389D7-7712-4FAE-A7F4-62D62D83E2C5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38A3142-23C9-4453-BCB4-AC12355BB1D5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FE67D783-90A7-4E9F-AD24-6523C2A42305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C867FC8-614E-4972-85F0-655074E5AEFF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876C310-D290-49F3-B143-72A5F45E0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1680" cy="146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FE84CAB-DE89-4D7C-A93C-C80224B85A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96C9A66-110B-4B7E-B8B5-43D9E8A374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821EAA6-099C-4E58-BAD4-DDB0C6DC83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0AE44A5-CF2A-4A3A-A513-E03472826479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vertTx" preserve="1">
  <p:cSld name="Title and Vertical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0CF2A94-1D4A-4F73-9D4F-9BDD1D7FDA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8880" cy="11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58F2AD9-8B2B-41D6-8936-08854BC736F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8880" cy="45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6143A68-3D55-4D08-ABE4-29D88B138AA1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8FBC926-E559-490D-AA29-B870D68CFA0C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4118F46-5BFD-4CB6-BBD1-65E75E608383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A17363E-5BF4-4A7B-8157-08782C1024F5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vertTitleAndTx" preserve="1">
  <p:cSld name="Vertical Title and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EB3CD67-7AFE-4006-BF09-F22D17C31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80"/>
            <a:ext cx="2056680" cy="585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48B6AE7-4339-4300-9185-4C360091C12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74680"/>
            <a:ext cx="6019200" cy="585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E82B6A2-A4B3-42D5-B198-F52A63D570C2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1181B38-F273-4D74-939B-8852A182DE6D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CDCA9D4-9885-4E61-AB05-EA690D77068B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A46DD61-86B4-41FB-995F-91F6FE1EDA37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" preserve="1">
  <p:cSld name="Title and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FD41024-D53B-4307-A800-334623640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8880" cy="11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C85B57C-499B-40DF-84CA-5F9B5783843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8880" cy="45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8FAEB61-03C4-4093-AB3E-DC83A734C92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5C99837-2E12-4D21-BF90-1F2D5F98E38F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6AAACA70-AA16-47AA-B038-4837B5C12BC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673902-72DF-46AF-938A-F1D2DFC1B4D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96B68F5-003E-456D-84B5-862AC4A2D1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160" y="4406760"/>
            <a:ext cx="7771680" cy="136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A559D81-9108-4646-8672-B56CAD33203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2160" y="2906640"/>
            <a:ext cx="7771680" cy="149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F109273-36B5-4DCC-9FC0-32ED71CE8159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41E4C01-A6ED-496C-A3CE-9BDBDF56C526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0339334-9367-44CE-BF0A-BC12B2B32679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B39C8FE-3FCD-4A29-BDA2-B20A632841D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twoObj" preserve="1">
  <p:cSld name="Two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9F40A36-902B-4BF3-B9F0-79AEB33C52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8880" cy="11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127E580-7A36-46D6-ADB4-ABFBC2F3970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4037760" cy="45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7E5EF67-10B7-4D05-B1D6-700084CECA5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8320" y="1600200"/>
            <a:ext cx="4037760" cy="45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EFBA983-C7AC-40BE-83D3-8E747E5467E2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F3EA172-94FD-4D80-864F-6FAFFA4CFE6B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C6719AE0-2952-4740-8128-D1705CD79305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D293350-EB39-4F29-81D2-56F500D448F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Comparis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F6BE5FB-F9BC-4854-B1A7-488726A11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8880" cy="11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31F5825-C1DB-4DAA-A7FC-C66E58B9832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535040"/>
            <a:ext cx="4039560" cy="63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FFC0815-B8DF-4FAD-A5EC-DAAA45BED28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174760"/>
            <a:ext cx="4039560" cy="39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B2101CB-B02C-44AC-92BD-E8981444C95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1535040"/>
            <a:ext cx="4041000" cy="63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28E8802-17DB-4B1B-94DC-10BD6CF2625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2174760"/>
            <a:ext cx="4041000" cy="39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C5312A01-09F4-414C-ACB2-294A28DBAA3C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44532C14-C4F5-4E62-9AA4-9F364F4B804F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38506D37-FBED-46BE-AAAA-E37C2BBA8EE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A097F9A-E237-44FC-ABA2-49512B839750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titleOnly" preserve="1">
  <p:cSld name="Title Onl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1BAC3F9-123D-435D-9E72-134DEDEB2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8880" cy="11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239F417-D61B-46B1-BA47-BC3D732B4FEF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197B01D-D264-47B9-99C7-016138C85A04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22084AF-B2E2-47A3-BD7B-70F0F484E842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AC42022-FE96-4FE8-B322-5DA174B2A716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66bb3cbd764888" /><Relationship Type="http://schemas.openxmlformats.org/officeDocument/2006/relationships/slideLayout" Target="/ppt/slideLayouts/slideLayout1.xml" Id="Rb912a44ec6604b3a" /><Relationship Type="http://schemas.openxmlformats.org/officeDocument/2006/relationships/slideLayout" Target="/ppt/slideLayouts/slideLayout2.xml" Id="R739c39284e78410f" /><Relationship Type="http://schemas.openxmlformats.org/officeDocument/2006/relationships/slideLayout" Target="/ppt/slideLayouts/slideLayout3.xml" Id="R8457d6aedc9a487c" /><Relationship Type="http://schemas.openxmlformats.org/officeDocument/2006/relationships/slideLayout" Target="/ppt/slideLayouts/slideLayout4.xml" Id="R586d3f6fc9c44d29" /><Relationship Type="http://schemas.openxmlformats.org/officeDocument/2006/relationships/slideLayout" Target="/ppt/slideLayouts/slideLayout5.xml" Id="Rb3a99ae5f204496a" /><Relationship Type="http://schemas.openxmlformats.org/officeDocument/2006/relationships/slideLayout" Target="/ppt/slideLayouts/slideLayout6.xml" Id="R94b35f34ac5c46e9" /><Relationship Type="http://schemas.openxmlformats.org/officeDocument/2006/relationships/slideLayout" Target="/ppt/slideLayouts/slideLayout7.xml" Id="R42de2ad339744250" /><Relationship Type="http://schemas.openxmlformats.org/officeDocument/2006/relationships/slideLayout" Target="/ppt/slideLayouts/slideLayout8.xml" Id="R62f09de731174cf0" /><Relationship Type="http://schemas.openxmlformats.org/officeDocument/2006/relationships/slideLayout" Target="/ppt/slideLayouts/slideLayout9.xml" Id="Rea99ecb14b8e4471" /><Relationship Type="http://schemas.openxmlformats.org/officeDocument/2006/relationships/slideLayout" Target="/ppt/slideLayouts/slideLayout10.xml" Id="Rd4fbe11347214dbc" /><Relationship Type="http://schemas.openxmlformats.org/officeDocument/2006/relationships/slideLayout" Target="/ppt/slideLayouts/slideLayout11.xml" Id="Ra31ed32650aa456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12a44ec6604b3a"/>
    <p:sldLayoutId xmlns:r="http://schemas.openxmlformats.org/officeDocument/2006/relationships" id="2147483650" r:id="R739c39284e78410f"/>
    <p:sldLayoutId xmlns:r="http://schemas.openxmlformats.org/officeDocument/2006/relationships" id="2147483651" r:id="R8457d6aedc9a487c"/>
    <p:sldLayoutId xmlns:r="http://schemas.openxmlformats.org/officeDocument/2006/relationships" id="2147483652" r:id="R586d3f6fc9c44d29"/>
    <p:sldLayoutId xmlns:r="http://schemas.openxmlformats.org/officeDocument/2006/relationships" id="2147483653" r:id="Rb3a99ae5f204496a"/>
    <p:sldLayoutId xmlns:r="http://schemas.openxmlformats.org/officeDocument/2006/relationships" id="2147483654" r:id="R94b35f34ac5c46e9"/>
    <p:sldLayoutId xmlns:r="http://schemas.openxmlformats.org/officeDocument/2006/relationships" id="2147483655" r:id="R42de2ad339744250"/>
    <p:sldLayoutId xmlns:r="http://schemas.openxmlformats.org/officeDocument/2006/relationships" id="2147483656" r:id="R62f09de731174cf0"/>
    <p:sldLayoutId xmlns:r="http://schemas.openxmlformats.org/officeDocument/2006/relationships" id="2147483657" r:id="Rea99ecb14b8e4471"/>
    <p:sldLayoutId xmlns:r="http://schemas.openxmlformats.org/officeDocument/2006/relationships" id="2147483658" r:id="Rd4fbe11347214dbc"/>
    <p:sldLayoutId xmlns:r="http://schemas.openxmlformats.org/officeDocument/2006/relationships" id="2147483659" r:id="Ra31ed32650aa4569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300676d48400a" /><Relationship Type="http://schemas.openxmlformats.org/officeDocument/2006/relationships/image" Target="/ppt/media/image.png" Id="R8424623160354dcf" /><Relationship Type="http://schemas.openxmlformats.org/officeDocument/2006/relationships/notesSlide" Target="/ppt/notesSlides/notesSlide1.xml" Id="Rc13f472d979641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e66e568564328" /><Relationship Type="http://schemas.openxmlformats.org/officeDocument/2006/relationships/image" Target="/ppt/media/image2.png" Id="Rfc1acbb614ce450d" /><Relationship Type="http://schemas.openxmlformats.org/officeDocument/2006/relationships/notesSlide" Target="/ppt/notesSlides/notesSlide2.xml" Id="R0e0f04914a0f4a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5742bf1e946f9" /><Relationship Type="http://schemas.openxmlformats.org/officeDocument/2006/relationships/image" Target="/ppt/media/image2.png" Id="R6285c5ffe83243a6" /><Relationship Type="http://schemas.openxmlformats.org/officeDocument/2006/relationships/notesSlide" Target="/ppt/notesSlides/notesSlide3.xml" Id="R760b5f02d6f542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86e8923ec4ba6" /><Relationship Type="http://schemas.openxmlformats.org/officeDocument/2006/relationships/image" Target="/ppt/media/image2.png" Id="Rbe0e47a9c99849b6" /><Relationship Type="http://schemas.openxmlformats.org/officeDocument/2006/relationships/chart" Target="/ppt/slides/charts/chart1.xml" Id="R6d76981d01ec434d" /><Relationship Type="http://schemas.openxmlformats.org/officeDocument/2006/relationships/notesSlide" Target="/ppt/notesSlides/notesSlide4.xml" Id="Rf36abd2a3fbb4c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ecd806ffa4967" /><Relationship Type="http://schemas.openxmlformats.org/officeDocument/2006/relationships/image" Target="/ppt/media/image2.png" Id="R74b8d15781c8430b" /><Relationship Type="http://schemas.openxmlformats.org/officeDocument/2006/relationships/chart" Target="/ppt/slides/charts/chart2.xml" Id="R0debbcec7b514804" /><Relationship Type="http://schemas.openxmlformats.org/officeDocument/2006/relationships/notesSlide" Target="/ppt/notesSlides/notesSlide5.xml" Id="R4759546ae11249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c7b1daade4570" /><Relationship Type="http://schemas.openxmlformats.org/officeDocument/2006/relationships/notesSlide" Target="/ppt/notesSlides/notesSlide6.xml" Id="R79a662e29f674a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9877414924c76" /><Relationship Type="http://schemas.openxmlformats.org/officeDocument/2006/relationships/image" Target="/ppt/media/image2.png" Id="R109072cdcc6b4f01" /><Relationship Type="http://schemas.openxmlformats.org/officeDocument/2006/relationships/notesSlide" Target="/ppt/notesSlides/notesSlide7.xml" Id="R5ba129020f81489e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Members reaching ≥5% weight 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212121"/>
              </a:solidFill>
              <a:latin typeface="STK Bureau Sans"/>
              <a:ea typeface="STK Bureau Sans"/>
              <a:cs typeface="STK Bureau Sans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Response rate</c:v>
          </c:tx>
          <c:dPt>
            <c:idx val="0"/>
            <c:invertIfNegative val="0"/>
            <c:spPr>
              <a:solidFill xmlns:a="http://schemas.openxmlformats.org/drawingml/2006/main">
                <a:srgbClr val="80AE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BD70"/>
              </a:solidFill>
            </c:spPr>
          </c:dPt>
          <c:cat>
            <c:strLit>
              <c:ptCount val="2"/>
              <c:pt idx="0">
                <c:v>GLP‑1 weight loss</c:v>
              </c:pt>
              <c:pt idx="1">
                <c:v>Coaching only</c:v>
              </c:pt>
            </c:strLit>
          </c:cat>
          <c:val>
            <c:numLit>
              <c:formatCode>0.0"%"</c:formatCode>
              <c:ptCount val="2"/>
              <c:pt idx="0">
                <c:v>61.9</c:v>
              </c:pt>
              <c:pt idx="1">
                <c:v>9.4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212121"/>
                  </a:solidFill>
                  <a:latin typeface="STK Bureau Sans"/>
                  <a:ea typeface="STK Bureau Sans"/>
                  <a:cs typeface="STK Burea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1212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4DA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solidFill>
              <a:srgbClr val="FFFCF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86868"/>
                </a:solidFill>
                <a:latin typeface="STK Bureau Sans"/>
                <a:ea typeface="STK Bureau Sans"/>
                <a:cs typeface="STK Bureau Sans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CF3"/>
          </a:solidFill>
          <a:prstDash val="solid"/>
        </a:ln>
      </c:spPr>
    </c:plotArea>
    <c:plotVisOnly val="1"/>
  </c:chart>
  <c:spPr>
    <a:solidFill xmlns:a="http://schemas.openxmlformats.org/drawingml/2006/main">
      <a:srgbClr val="FFFCF3"/>
    </a:solidFill>
    <a:ln xmlns:a="http://schemas.openxmlformats.org/drawingml/2006/main" w="0">
      <a:solidFill>
        <a:srgbClr val="FFFCF3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Adjusted association with percentage loss (pp)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212121"/>
              </a:solidFill>
              <a:latin typeface="STK Bureau Sans"/>
              <a:ea typeface="STK Bureau Sans"/>
              <a:cs typeface="STK Bureau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Percentage points per 1 SD log event count</c:v>
          </c:tx>
          <c:spPr>
            <a:solidFill xmlns:a="http://schemas.openxmlformats.org/drawingml/2006/main">
              <a:srgbClr val="80AEFF"/>
            </a:solidFill>
          </c:spPr>
          <c:cat>
            <c:strLit>
              <c:ptCount val="5"/>
              <c:pt idx="0">
                <c:v>Completed consultation</c:v>
              </c:pt>
              <c:pt idx="1">
                <c:v>Medication change</c:v>
              </c:pt>
              <c:pt idx="2">
                <c:v>Chart review</c:v>
              </c:pt>
              <c:pt idx="3">
                <c:v>Consumed digital content</c:v>
              </c:pt>
              <c:pt idx="4">
                <c:v>Questionnaire answered</c:v>
              </c:pt>
            </c:strLit>
          </c:cat>
          <c:val>
            <c:numLit>
              <c:formatCode>+0.00;-0.00;0.00</c:formatCode>
              <c:ptCount val="5"/>
              <c:pt idx="0">
                <c:v>3.25</c:v>
              </c:pt>
              <c:pt idx="1">
                <c:v>2.41</c:v>
              </c:pt>
              <c:pt idx="2">
                <c:v>2.02</c:v>
              </c:pt>
              <c:pt idx="3">
                <c:v>1.82</c:v>
              </c:pt>
              <c:pt idx="4">
                <c:v>1.61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12121"/>
                  </a:solidFill>
                  <a:latin typeface="STK Bureau Sans"/>
                  <a:ea typeface="STK Bureau Sans"/>
                  <a:cs typeface="STK Burea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4D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CF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86868"/>
                </a:solidFill>
                <a:latin typeface="STK Bureau Sans"/>
                <a:ea typeface="STK Bureau Sans"/>
                <a:cs typeface="STK Burea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CF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CF3"/>
          </a:solidFill>
          <a:prstDash val="solid"/>
        </a:ln>
      </c:spPr>
    </c:plotArea>
    <c:plotVisOnly val="1"/>
  </c:chart>
  <c:spPr>
    <a:solidFill xmlns:a="http://schemas.openxmlformats.org/drawingml/2006/main">
      <a:srgbClr val="FFFCF3"/>
    </a:solidFill>
    <a:ln xmlns:a="http://schemas.openxmlformats.org/drawingml/2006/main" w="0">
      <a:solidFill>
        <a:srgbClr val="FFFCF3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4623160354dcf"/>
          <a:stretch xmlns:a="http://schemas.openxmlformats.org/drawingml/2006/main"/>
        </p:blipFill>
        <p:spPr>
          <a:xfrm xmlns:a="http://schemas.openxmlformats.org/drawingml/2006/main">
            <a:off x="0" y="0"/>
            <a:ext cx="12191040" cy="68572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0" name="TextBox 2">
            <a:extLst xmlns:a="http://schemas.openxmlformats.org/drawingml/2006/main">
              <a:ext uri="{FF2B5EF4-FFF2-40B4-BE49-F238E27FC236}">
                <a16:creationId xmlns:a16="http://schemas.microsoft.com/office/drawing/2014/main" id="{31211C1D-0959-409A-981E-DCE51DC9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514880" cy="146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360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360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What appears to drive clinical weight improvement?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Box 3">
            <a:extLst xmlns:a="http://schemas.openxmlformats.org/drawingml/2006/main">
              <a:ext uri="{FF2B5EF4-FFF2-40B4-BE49-F238E27FC236}">
                <a16:creationId xmlns:a16="http://schemas.microsoft.com/office/drawing/2014/main" id="{2E0CC6BD-5894-4FDF-82FB-5D4C530C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10514880" cy="1096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8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8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Among members with usable follow-up, the GLP‑1 weight-loss pathway showed substantially greater loss. Repeatable engagement was the only stable behavioral correlate.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Box 4">
            <a:extLst xmlns:a="http://schemas.openxmlformats.org/drawingml/2006/main">
              <a:ext uri="{FF2B5EF4-FFF2-40B4-BE49-F238E27FC236}">
                <a16:creationId xmlns:a16="http://schemas.microsoft.com/office/drawing/2014/main" id="{CAF9A09D-E827-4DA5-918B-4D32026C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89320"/>
            <a:ext cx="10514880" cy="2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Luis M. Rangel Jr. · Data Analyst Case Study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201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32676C-5B43-49A0-A60D-D24B0AD1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E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DA156-EF16-4B8B-B306-77707C6D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SAMPLE · COHORT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C160E9B-A5F7-4FF7-8173-BD917C3A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TextBox 4">
            <a:extLst xmlns:a="http://schemas.openxmlformats.org/drawingml/2006/main">
              <a:ext uri="{FF2B5EF4-FFF2-40B4-BE49-F238E27FC236}">
                <a16:creationId xmlns:a16="http://schemas.microsoft.com/office/drawing/2014/main" id="{EB850E06-63B4-4AD8-A64E-0EFE0B1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83525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325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325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The primary analysis includes 534 members—and follow-up is imbalanced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Box 5">
            <a:extLst xmlns:a="http://schemas.openxmlformats.org/drawingml/2006/main">
              <a:ext uri="{FF2B5EF4-FFF2-40B4-BE49-F238E27FC236}">
                <a16:creationId xmlns:a16="http://schemas.microsoft.com/office/drawing/2014/main" id="{A92C3D6F-4024-45B5-A680-FD0F527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5450"/>
            <a:ext cx="590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4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42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Cohort flow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40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4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42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865 enrolled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4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42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↓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4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42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633 with a usable positive follow-up interval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4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42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↓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4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42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534 in the primary two-group analysis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t/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4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42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331 GLP‑1 weight loss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4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42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203 Coaching only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4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42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99 other member types held out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acbb614ce450d"/>
          <a:stretch xmlns:a="http://schemas.openxmlformats.org/drawingml/2006/main"/>
        </p:blipFill>
        <p:spPr>
          <a:xfrm xmlns:a="http://schemas.openxmlformats.org/drawingml/2006/main">
            <a:off x="0" y="6327720"/>
            <a:ext cx="12191040" cy="118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A3F241-4CF7-4607-BCE7-73C8EE1D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10600"/>
            <a:ext cx="82288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7AA702-9B11-49B7-BBEE-C599C1B7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510600"/>
            <a:ext cx="456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2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84" name=""/>
          <p:cNvGraphicFramePr/>
          <p:nvPr/>
        </p:nvGraphicFramePr>
        <p:xfrm>
          <a:off xmlns:a="http://schemas.openxmlformats.org/drawingml/2006/main" x="7239000" y="1809750"/>
          <a:ext xmlns:a="http://schemas.openxmlformats.org/drawingml/2006/main" cx="4333875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3418"/>
                <a:gridCol w="1019735"/>
                <a:gridCol w="1070722"/>
              </a:tblGrid>
              <a:tr h="4667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Characteristic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GLP‑1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Coaching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</a:tr>
              <a:tr h="4667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Members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331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203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  <a:tr h="4667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Female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62.2%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59.1%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</a:tr>
              <a:tr h="4667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Baseline weight, mean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230.9 lb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215.6 lb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  <a:tr h="4667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Follow-up, median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217 days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71 days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</a:tr>
            </a:tbl>
          </a:graphicData>
        </a:graphic>
      </p:graphicFrame>
      <p:sp>
        <p:nvSpPr>
          <p:cNvPr id="75" name="follow-up-caveat">
            <a:extLst xmlns:a="http://schemas.openxmlformats.org/drawingml/2006/main">
              <a:ext uri="{FF2B5EF4-FFF2-40B4-BE49-F238E27FC236}">
                <a16:creationId xmlns:a16="http://schemas.microsoft.com/office/drawing/2014/main" id="{7E5221BA-6549-48DD-8110-653438AF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4333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14288">
            <a:solidFill>
              <a:srgbClr val="FFBD7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Interpretation constraint</a:t>
            </a:r>
          </a:p>
          <a:p xmlns:a="http://schemas.openxmlformats.org/drawingml/2006/main">
            <a:pPr algn="l">
              <a:defRPr sz="11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Follow-up spans 1–261 days; median follow-up differs by 146 days. Age was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680100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32676C-5B43-49A0-A60D-D24B0AD1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E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DA156-EF16-4B8B-B306-77707C6D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ANALYTICAL APPROACH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C160E9B-A5F7-4FF7-8173-BD917C3A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TextBox 4">
            <a:extLst xmlns:a="http://schemas.openxmlformats.org/drawingml/2006/main">
              <a:ext uri="{FF2B5EF4-FFF2-40B4-BE49-F238E27FC236}">
                <a16:creationId xmlns:a16="http://schemas.microsoft.com/office/drawing/2014/main" id="{EB850E06-63B4-4AD8-A64E-0EFE0B1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835259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40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40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A two-stage approach separates prediction from exploratory explanation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Box 5">
            <a:extLst xmlns:a="http://schemas.openxmlformats.org/drawingml/2006/main">
              <a:ext uri="{FF2B5EF4-FFF2-40B4-BE49-F238E27FC236}">
                <a16:creationId xmlns:a16="http://schemas.microsoft.com/office/drawing/2014/main" id="{A92C3D6F-4024-45B5-A680-FD0F527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57350"/>
            <a:ext cx="5905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Questions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• Which outcome representation predicts best?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• Which engagement, module, and member attributes add signal?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• Are selected predictors stable?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40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Workflow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1  Define outcomes and the two-group cohort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2  Compare models on identical member-level splits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3  Run 100 LASSO stability resamples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4  Refit a locked HC3 model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5  Stress-test follow-up duration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5c5ffe83243a6"/>
          <a:stretch xmlns:a="http://schemas.openxmlformats.org/drawingml/2006/main"/>
        </p:blipFill>
        <p:spPr>
          <a:xfrm xmlns:a="http://schemas.openxmlformats.org/drawingml/2006/main">
            <a:off x="0" y="6327720"/>
            <a:ext cx="12191040" cy="118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A3F241-4CF7-4607-BCE7-73C8EE1D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10600"/>
            <a:ext cx="82288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7AA702-9B11-49B7-BBEE-C599C1B7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510600"/>
            <a:ext cx="456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3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84" name=""/>
          <p:cNvGraphicFramePr/>
          <p:nvPr/>
        </p:nvGraphicFramePr>
        <p:xfrm>
          <a:off xmlns:a="http://schemas.openxmlformats.org/drawingml/2006/main" x="7239000" y="1905000"/>
          <a:ext xmlns:a="http://schemas.openxmlformats.org/drawingml/2006/main" cx="4333875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94404"/>
                <a:gridCol w="1019735"/>
                <a:gridCol w="1019735"/>
              </a:tblGrid>
              <a:tr h="5556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Candidate model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CV RMSE (lb)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CV MAE (lb)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</a:tr>
              <a:tr h="5556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Percentage-loss OLS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12.89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9.77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  <a:tr h="5556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Log-weight CS GLS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15.09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11.95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</a:tr>
            </a:tbl>
          </a:graphicData>
        </a:graphic>
      </p:graphicFrame>
      <p:sp>
        <p:nvSpPr>
          <p:cNvPr id="75" name="selected-model-callout">
            <a:extLst xmlns:a="http://schemas.openxmlformats.org/drawingml/2006/main">
              <a:ext uri="{FF2B5EF4-FFF2-40B4-BE49-F238E27FC236}">
                <a16:creationId xmlns:a16="http://schemas.microsoft.com/office/drawing/2014/main" id="{8F2C2458-071D-44FE-92F0-6C91CE7E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43338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4FF"/>
          </a:solidFill>
          <a:ln xmlns:a="http://schemas.openxmlformats.org/drawingml/2006/main" w="14288">
            <a:solidFill>
              <a:srgbClr val="80AEF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Selected outcome lens</a:t>
            </a:r>
          </a:p>
          <a:p xmlns:a="http://schemas.openxmlformats.org/drawingml/2006/main">
            <a:pPr algn="l">
              <a:def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Percentage-loss 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Lower error on back-transformed held-out last weight using the same grouped CV splits (2 repeats × 5 folds). LASSO retention threshold: 75% across 100 resamples.</a:t>
            </a:r>
          </a:p>
        </p:txBody>
      </p:sp>
    </p:spTree>
    <p:extLst>
      <p:ext uri="{BB962C8B-B14F-4D97-AF65-F5344CB8AC3E}">
        <p14:creationId xmlns:p14="http://schemas.microsoft.com/office/powerpoint/2010/main" val="1680100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9F4B1E-BC9A-4A43-A3BD-48909DE8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E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0B5F70-2748-4B92-9B4C-7CF4970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FINDINGS · WEIGHT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55B46A3-3671-4570-A9FF-8AB9EE77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TextBox 4">
            <a:extLst xmlns:a="http://schemas.openxmlformats.org/drawingml/2006/main">
              <a:ext uri="{FF2B5EF4-FFF2-40B4-BE49-F238E27FC236}">
                <a16:creationId xmlns:a16="http://schemas.microsoft.com/office/drawing/2014/main" id="{F255D648-568D-4C23-A970-CF82651D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514880" cy="9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55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55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GLP‑1 members show a markedly stronger observed weight-loss response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Box 5">
            <a:extLst xmlns:a="http://schemas.openxmlformats.org/drawingml/2006/main">
              <a:ext uri="{FF2B5EF4-FFF2-40B4-BE49-F238E27FC236}">
                <a16:creationId xmlns:a16="http://schemas.microsoft.com/office/drawing/2014/main" id="{4671B0E0-8D9C-409D-8CA9-216731C0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85950"/>
            <a:ext cx="3476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Observed outcomes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GLP‑1 vs Coaching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50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7.43% vs 0.56%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Mean percentage loss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50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6.94% vs 0.36%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Median percentage loss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t/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Interpretation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The separation is large, but member type was not randomized and follow-up differed.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e47a9c99849b6"/>
          <a:stretch xmlns:a="http://schemas.openxmlformats.org/drawingml/2006/main"/>
        </p:blipFill>
        <p:spPr>
          <a:xfrm xmlns:a="http://schemas.openxmlformats.org/drawingml/2006/main">
            <a:off x="0" y="6327720"/>
            <a:ext cx="12191040" cy="118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9" name="TextBox 8">
            <a:extLst xmlns:a="http://schemas.openxmlformats.org/drawingml/2006/main">
              <a:ext uri="{FF2B5EF4-FFF2-40B4-BE49-F238E27FC236}">
                <a16:creationId xmlns:a16="http://schemas.microsoft.com/office/drawing/2014/main" id="{E7F15DA4-22C5-4ADF-8D2F-BCB1BDAD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10600"/>
            <a:ext cx="82288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TextBox 9">
            <a:extLst xmlns:a="http://schemas.openxmlformats.org/drawingml/2006/main">
              <a:ext uri="{FF2B5EF4-FFF2-40B4-BE49-F238E27FC236}">
                <a16:creationId xmlns:a16="http://schemas.microsoft.com/office/drawing/2014/main" id="{73E10BD9-B100-434E-9B84-BBF325EA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510600"/>
            <a:ext cx="456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4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93" name="weight-loss-response-rate"/>
          <p:cNvGraphicFramePr/>
          <p:nvPr/>
        </p:nvGraphicFramePr>
        <p:xfrm>
          <a:off xmlns:a="http://schemas.openxmlformats.org/drawingml/2006/main" x="5000625" y="2000250"/>
          <a:ext xmlns:a="http://schemas.openxmlformats.org/drawingml/2006/main" cx="62865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76981d01ec434d"/>
          </a:graphicData>
        </a:graphic>
      </p:graphicFrame>
      <p:sp>
        <p:nvSpPr>
          <p:cNvPr id="84" name="response-gap-callout">
            <a:extLst xmlns:a="http://schemas.openxmlformats.org/drawingml/2006/main">
              <a:ext uri="{FF2B5EF4-FFF2-40B4-BE49-F238E27FC236}">
                <a16:creationId xmlns:a16="http://schemas.microsoft.com/office/drawing/2014/main" id="{30D77463-F881-4B54-A92F-BBAEE5D7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86375"/>
            <a:ext cx="538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F9"/>
          </a:solidFill>
          <a:ln xmlns:a="http://schemas.openxmlformats.org/drawingml/2006/main" w="14288">
            <a:solidFill>
              <a:srgbClr val="F7BDE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52.6 percentage-point observed gap in ≥5% response</a:t>
            </a:r>
          </a:p>
          <a:p xmlns:a="http://schemas.openxmlformats.org/drawingml/2006/main">
            <a:pPr algn="ctr"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95% Wilson CIs: GLP‑1 56.6–67.0% · Coaching 6.1–14.2%</a:t>
            </a:r>
          </a:p>
        </p:txBody>
      </p:sp>
    </p:spTree>
    <p:extLst>
      <p:ext uri="{BB962C8B-B14F-4D97-AF65-F5344CB8AC3E}">
        <p14:creationId xmlns:p14="http://schemas.microsoft.com/office/powerpoint/2010/main" val="1005241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A7C75B-A443-4EE0-90FC-5CA8FCF0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0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TextBox 2">
            <a:extLst xmlns:a="http://schemas.openxmlformats.org/drawingml/2006/main">
              <a:ext uri="{FF2B5EF4-FFF2-40B4-BE49-F238E27FC236}">
                <a16:creationId xmlns:a16="http://schemas.microsoft.com/office/drawing/2014/main" id="{B779B8E8-B4CE-4FA0-8448-EE29F249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FINDINGS · ENGAGEMENT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3DE420-2240-437F-AB1A-1B6128F1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TextBox 4">
            <a:extLst xmlns:a="http://schemas.openxmlformats.org/drawingml/2006/main">
              <a:ext uri="{FF2B5EF4-FFF2-40B4-BE49-F238E27FC236}">
                <a16:creationId xmlns:a16="http://schemas.microsoft.com/office/drawing/2014/main" id="{E8FE6BFB-5B12-44EF-A4C4-F3AEE48E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514880" cy="9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40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40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Repeatable engagement is the only stable behavioral signal among tested candidates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TextBox 5">
            <a:extLst xmlns:a="http://schemas.openxmlformats.org/drawingml/2006/main">
              <a:ext uri="{FF2B5EF4-FFF2-40B4-BE49-F238E27FC236}">
                <a16:creationId xmlns:a16="http://schemas.microsoft.com/office/drawing/2014/main" id="{57A5165E-B577-4D11-A053-4CF55751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85950"/>
            <a:ext cx="347662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Group means · GLP‑1 vs Coaching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95.4 vs 15.7 repeatable events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13.6 vs 7.7 activity breadth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0.385 vs 0.065 events/day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50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Selection stability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82%  Repeatable engagement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43%  Module mean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≤14% All other candidates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50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Caution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Activity and weight windows overlap; reverse causation remains possible.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8d15781c8430b"/>
          <a:stretch xmlns:a="http://schemas.openxmlformats.org/drawingml/2006/main"/>
        </p:blipFill>
        <p:spPr>
          <a:xfrm xmlns:a="http://schemas.openxmlformats.org/drawingml/2006/main">
            <a:off x="0" y="6327720"/>
            <a:ext cx="12191040" cy="118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8" name="TextBox 8">
            <a:extLst xmlns:a="http://schemas.openxmlformats.org/drawingml/2006/main">
              <a:ext uri="{FF2B5EF4-FFF2-40B4-BE49-F238E27FC236}">
                <a16:creationId xmlns:a16="http://schemas.microsoft.com/office/drawing/2014/main" id="{B3CFC5BB-7500-458C-ACFB-1BD293F6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10600"/>
            <a:ext cx="82288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Box 9">
            <a:extLst xmlns:a="http://schemas.openxmlformats.org/drawingml/2006/main">
              <a:ext uri="{FF2B5EF4-FFF2-40B4-BE49-F238E27FC236}">
                <a16:creationId xmlns:a16="http://schemas.microsoft.com/office/drawing/2014/main" id="{B8C4D85F-453E-4661-A0B6-1CD4B4A8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510600"/>
            <a:ext cx="456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5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02" name="activity-association-chart"/>
          <p:cNvGraphicFramePr/>
          <p:nvPr/>
        </p:nvGraphicFramePr>
        <p:xfrm>
          <a:off xmlns:a="http://schemas.openxmlformats.org/drawingml/2006/main" x="4905375" y="1952625"/>
          <a:ext xmlns:a="http://schemas.openxmlformats.org/drawingml/2006/main" cx="6572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ebbcec7b514804"/>
          </a:graphicData>
        </a:graphic>
      </p:graphicFrame>
      <p:sp>
        <p:nvSpPr>
          <p:cNvPr id="93" name="activity-model-note">
            <a:extLst xmlns:a="http://schemas.openxmlformats.org/drawingml/2006/main">
              <a:ext uri="{FF2B5EF4-FFF2-40B4-BE49-F238E27FC236}">
                <a16:creationId xmlns:a16="http://schemas.microsoft.com/office/drawing/2014/main" id="{F84BE466-C30A-43C1-92EE-B9052F89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CF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9893"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013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Effect = percentage points per 1 SD increase in standardized log1p event count · HC3 + duration adjustment · FDR controlled</a:t>
            </a:r>
          </a:p>
        </p:txBody>
      </p:sp>
    </p:spTree>
    <p:extLst>
      <p:ext uri="{BB962C8B-B14F-4D97-AF65-F5344CB8AC3E}">
        <p14:creationId xmlns:p14="http://schemas.microsoft.com/office/powerpoint/2010/main" val="1294252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BB5DAF-E156-4F2D-86F9-0F3D2E20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E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TextBox 2">
            <a:extLst xmlns:a="http://schemas.openxmlformats.org/drawingml/2006/main">
              <a:ext uri="{FF2B5EF4-FFF2-40B4-BE49-F238E27FC236}">
                <a16:creationId xmlns:a16="http://schemas.microsoft.com/office/drawing/2014/main" id="{B35326C8-B75B-46A6-8A31-2189660A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MODEL · LOCKED SPECIFICATION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C4F45EE-A228-4D5E-837B-8410FD6C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TextBox 4">
            <a:extLst xmlns:a="http://schemas.openxmlformats.org/drawingml/2006/main">
              <a:ext uri="{FF2B5EF4-FFF2-40B4-BE49-F238E27FC236}">
                <a16:creationId xmlns:a16="http://schemas.microsoft.com/office/drawing/2014/main" id="{576B3118-023C-4384-81DA-2B0A01F5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514880" cy="9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55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55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The locked model explains 31% of outcome variation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TextBox 7">
            <a:extLst xmlns:a="http://schemas.openxmlformats.org/drawingml/2006/main">
              <a:ext uri="{FF2B5EF4-FFF2-40B4-BE49-F238E27FC236}">
                <a16:creationId xmlns:a16="http://schemas.microsoft.com/office/drawing/2014/main" id="{02E9D9ED-6BE4-44B4-9EB3-9BDCCD10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10600"/>
            <a:ext cx="82288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TextBox 8">
            <a:extLst xmlns:a="http://schemas.openxmlformats.org/drawingml/2006/main">
              <a:ext uri="{FF2B5EF4-FFF2-40B4-BE49-F238E27FC236}">
                <a16:creationId xmlns:a16="http://schemas.microsoft.com/office/drawing/2014/main" id="{DD0CC4F5-6501-4121-8DFB-7AADEA9E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510600"/>
            <a:ext cx="456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6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60" name=""/>
          <p:cNvGraphicFramePr/>
          <p:nvPr/>
        </p:nvGraphicFramePr>
        <p:xfrm>
          <a:off xmlns:a="http://schemas.openxmlformats.org/drawingml/2006/main" x="1428750" y="1952625"/>
          <a:ext xmlns:a="http://schemas.openxmlformats.org/drawingml/2006/main" cx="93345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83844"/>
                <a:gridCol w="1666875"/>
                <a:gridCol w="2500312"/>
                <a:gridCol w="1083469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Term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Estimate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95% CI (HC3)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p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GLP‑1 vs Coaching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+3.43 pp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[+1.88, +4.99]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&lt; .001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Repeatable engagement (per 25 events)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+1.01 pp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[+0.62, +1.39]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&lt; .001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Baseline weight (per 10 lb)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+0.15 pp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[+0.07, +0.23]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&lt; .001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</a:tbl>
          </a:graphicData>
        </a:graphic>
      </p:graphicFrame>
      <p:sp>
        <p:nvSpPr>
          <p:cNvPr id="150" name="model-fit-summary">
            <a:extLst xmlns:a="http://schemas.openxmlformats.org/drawingml/2006/main">
              <a:ext uri="{FF2B5EF4-FFF2-40B4-BE49-F238E27FC236}">
                <a16:creationId xmlns:a16="http://schemas.microsoft.com/office/drawing/2014/main" id="{22243333-4F87-490E-AC47-091EF957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4FF"/>
          </a:solidFill>
          <a:ln xmlns:a="http://schemas.openxmlformats.org/drawingml/2006/main" w="11906">
            <a:solidFill>
              <a:srgbClr val="80AEF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050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Model fit  ·  n = 534  |  R² = .314  |  adjusted R² = .310  |  residual RMSE = 5.46 pp  |  −2LL = 3328.96  |  AIC = 3336.96  |  BIC = 3354.08</a:t>
            </a:r>
          </a:p>
        </p:txBody>
      </p:sp>
      <p:sp>
        <p:nvSpPr>
          <p:cNvPr id="151" name="duration-sensitivity">
            <a:extLst xmlns:a="http://schemas.openxmlformats.org/drawingml/2006/main">
              <a:ext uri="{FF2B5EF4-FFF2-40B4-BE49-F238E27FC236}">
                <a16:creationId xmlns:a16="http://schemas.microsoft.com/office/drawing/2014/main" id="{7C2D049A-E2C7-40A8-954C-8AC0555B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157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11906">
            <a:solidFill>
              <a:srgbClr val="FFBD7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Duration sensitivity (common support, n = 496): GLP‑1 +3.30 pp; engagement +1.20 pp per 25 events; linear and quadratic duration terms were not significant.</a:t>
            </a:r>
          </a:p>
        </p:txBody>
      </p:sp>
      <p:sp>
        <p:nvSpPr>
          <p:cNvPr id="152" name="post-selection-note">
            <a:extLst xmlns:a="http://schemas.openxmlformats.org/drawingml/2006/main">
              <a:ext uri="{FF2B5EF4-FFF2-40B4-BE49-F238E27FC236}">
                <a16:creationId xmlns:a16="http://schemas.microsoft.com/office/drawing/2014/main" id="{F7E1E42F-5895-42E6-B1D7-0F5A6F7C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CF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86868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75">
                <a:solidFill>
                  <a:srgbClr val="686868"/>
                </a:solidFill>
                <a:latin typeface="STK Bureau Sans"/>
                <a:ea typeface="STK Bureau Sans"/>
                <a:cs typeface="STK Bureau Sans"/>
              </a:rPr>
              <a:t>Conditional post-selection inference · −2LL/AIC/BIC are descriptive within percentage-loss models only · Baseline weight is adjustment, not a causal lever.</a:t>
            </a:r>
          </a:p>
        </p:txBody>
      </p:sp>
      <p:sp>
        <p:nvSpPr>
          <p:cNvPr id="153" name="sunrise-footer-spectrum">
            <a:extLst xmlns:a="http://schemas.openxmlformats.org/drawingml/2006/main">
              <a:ext uri="{FF2B5EF4-FFF2-40B4-BE49-F238E27FC236}">
                <a16:creationId xmlns:a16="http://schemas.microsoft.com/office/drawing/2014/main" id="{0B607068-DFF4-433E-B4A4-A3AD6772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7743"/>
            <a:ext cx="12191048" cy="1181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BD70"/>
              </a:gs>
              <a:gs pos="50000">
                <a:srgbClr val="F7BDE6"/>
              </a:gs>
              <a:gs pos="100000">
                <a:srgbClr val="80AEFF"/>
              </a:gs>
            </a:gsLst>
            <a:lin ang="5400000"/>
          </a:gradFill>
          <a:ln xmlns:a="http://schemas.openxmlformats.org/drawingml/2006/main" w="0">
            <a:solidFill>
              <a:srgbClr val="FFFCF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9429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043E3D-47BE-4F9E-B86C-927237C2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0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TextBox 2">
            <a:extLst xmlns:a="http://schemas.openxmlformats.org/drawingml/2006/main">
              <a:ext uri="{FF2B5EF4-FFF2-40B4-BE49-F238E27FC236}">
                <a16:creationId xmlns:a16="http://schemas.microsoft.com/office/drawing/2014/main" id="{089156E4-8380-487D-BEA1-134247E5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RECOMMENDATIONS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BA75DD-A942-4877-B4A9-F22CEABB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TextBox 4">
            <a:extLst xmlns:a="http://schemas.openxmlformats.org/drawingml/2006/main">
              <a:ext uri="{FF2B5EF4-FFF2-40B4-BE49-F238E27FC236}">
                <a16:creationId xmlns:a16="http://schemas.microsoft.com/office/drawing/2014/main" id="{1E6FB135-C464-487C-BC6D-4CFE0385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514880" cy="100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55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55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Leadership should test the signals prospectively before scaling them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04BCEFD-DB1D-496B-A43E-3CC4D144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3519720" cy="42969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ABD4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TextBox 6">
            <a:extLst xmlns:a="http://schemas.openxmlformats.org/drawingml/2006/main">
              <a:ext uri="{FF2B5EF4-FFF2-40B4-BE49-F238E27FC236}">
                <a16:creationId xmlns:a16="http://schemas.microsoft.com/office/drawing/2014/main" id="{071451C0-6FB3-4BDB-B51D-0E82341C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65960"/>
            <a:ext cx="301680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87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87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Clinical pathway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TextBox 7">
            <a:extLst xmlns:a="http://schemas.openxmlformats.org/drawingml/2006/main">
              <a:ext uri="{FF2B5EF4-FFF2-40B4-BE49-F238E27FC236}">
                <a16:creationId xmlns:a16="http://schemas.microsoft.com/office/drawing/2014/main" id="{3E7D1BCF-3B63-45B7-B1BD-58DA9FCF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3016800" cy="310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Pilot a prospective, integrated GLP‑1 pathway among clinically appropriate members.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35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Primary KPIs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12-week percentage loss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≥5% response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4446015-433E-4EB0-9EB9-095D2BF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1640"/>
            <a:ext cx="3519720" cy="42969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3C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TextBox 9">
            <a:extLst xmlns:a="http://schemas.openxmlformats.org/drawingml/2006/main">
              <a:ext uri="{FF2B5EF4-FFF2-40B4-BE49-F238E27FC236}">
                <a16:creationId xmlns:a16="http://schemas.microsoft.com/office/drawing/2014/main" id="{35278E9E-F565-461F-8432-3EF22BDB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65960"/>
            <a:ext cx="301680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87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87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Product engagement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TextBox 10">
            <a:extLst xmlns:a="http://schemas.openxmlformats.org/drawingml/2006/main">
              <a:ext uri="{FF2B5EF4-FFF2-40B4-BE49-F238E27FC236}">
                <a16:creationId xmlns:a16="http://schemas.microsoft.com/office/drawing/2014/main" id="{9F0F29F0-AD7A-4DBD-8AF4-675AC8E7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97480"/>
            <a:ext cx="3016800" cy="310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Randomize early support for members with low initial engagement.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35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Measure engagement uptake first, then later weight—separating intervention from response.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2F27A85-6752-4FC9-8118-876588A3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691640"/>
            <a:ext cx="3519720" cy="42969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DEF3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2">
            <a:extLst xmlns:a="http://schemas.openxmlformats.org/drawingml/2006/main">
              <a:ext uri="{FF2B5EF4-FFF2-40B4-BE49-F238E27FC236}">
                <a16:creationId xmlns:a16="http://schemas.microsoft.com/office/drawing/2014/main" id="{D8F516D2-B323-4F78-B01A-4C6C6F5F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965960"/>
            <a:ext cx="301680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87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87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Measurement discipline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Box 13">
            <a:extLst xmlns:a="http://schemas.openxmlformats.org/drawingml/2006/main">
              <a:ext uri="{FF2B5EF4-FFF2-40B4-BE49-F238E27FC236}">
                <a16:creationId xmlns:a16="http://schemas.microsoft.com/office/drawing/2014/main" id="{B0744F2E-B7BC-486B-B766-A1F4DD8B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697480"/>
            <a:ext cx="3016800" cy="310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Standardize a 12-week endpoint. Capture module assignment/access, age, and baseline clinical measures.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35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Decision rule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Advance only if effects are clinically meaningful and consistent across key subgroups.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35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Guardrail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Pilot evidence ≠ causal proof.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072cdcc6b4f01"/>
          <a:stretch xmlns:a="http://schemas.openxmlformats.org/drawingml/2006/main"/>
        </p:blipFill>
        <p:spPr>
          <a:xfrm xmlns:a="http://schemas.openxmlformats.org/drawingml/2006/main">
            <a:off x="0" y="6327720"/>
            <a:ext cx="12191040" cy="118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21" name="TextBox 15">
            <a:extLst xmlns:a="http://schemas.openxmlformats.org/drawingml/2006/main">
              <a:ext uri="{FF2B5EF4-FFF2-40B4-BE49-F238E27FC236}">
                <a16:creationId xmlns:a16="http://schemas.microsoft.com/office/drawing/2014/main" id="{0C5B2049-8B26-491D-ACA3-3A84584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10600"/>
            <a:ext cx="82288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Box 16">
            <a:extLst xmlns:a="http://schemas.openxmlformats.org/drawingml/2006/main">
              <a:ext uri="{FF2B5EF4-FFF2-40B4-BE49-F238E27FC236}">
                <a16:creationId xmlns:a16="http://schemas.microsoft.com/office/drawing/2014/main" id="{449ED5BB-484E-4E68-84C5-35E9207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6510600"/>
            <a:ext cx="456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7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02332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2026-09-01T16:19:57.2250000Z</dcterms:created>
  <dcterms:modified xsi:type="dcterms:W3CDTF">2026-09-01T16:19:57.2250000Z</dcterms:modified>
</coreProperties>
</file>