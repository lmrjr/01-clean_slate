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en-US" sz="1350" strike="noStrike" u="none">
                <a:solidFill>
                  <a:srgbClr val="212121"/>
                </a:solidFill>
                <a:uFillTx/>
                <a:latin typeface="Source Sans 3 Semibold"/>
                <a:ea typeface="Source Sans 3 Semibold"/>
              </a:rPr>
              <a:t>Members reaching ≥5% weight loss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80aeff"/>
              </a:solidFill>
              <a:ln w="0">
                <a:noFill/>
              </a:ln>
            </c:spPr>
          </c:dPt>
          <c:dPt>
            <c:idx val="1"/>
            <c:spPr>
              <a:solidFill>
                <a:srgbClr val="ffbd70"/>
              </a:solidFill>
              <a:ln w="0">
                <a:noFill/>
              </a:ln>
            </c:spPr>
          </c:dPt>
          <c:dLbls>
            <c:numFmt formatCode="0.0\%" sourceLinked="0"/>
            <c:dLbl>
              <c:idx val="0"/>
              <c:numFmt formatCode="0.0\%" sourceLinked="0"/>
              <c:txPr>
                <a:bodyPr wrap="square"/>
                <a:lstStyle/>
                <a:p>
                  <a:pPr>
                    <a:defRPr b="0" sz="1275" strike="noStrike" u="none">
                      <a:solidFill>
                        <a:srgbClr val="212121"/>
                      </a:solidFill>
                      <a:uFillTx/>
                      <a:latin typeface="Source Sans 3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\%" sourceLinked="0"/>
              <c:txPr>
                <a:bodyPr wrap="square"/>
                <a:lstStyle/>
                <a:p>
                  <a:pPr>
                    <a:defRPr b="0" sz="1275" strike="noStrike" u="none">
                      <a:solidFill>
                        <a:srgbClr val="212121"/>
                      </a:solidFill>
                      <a:uFillTx/>
                      <a:latin typeface="Source Sans 3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275" strike="noStrike" u="none">
                    <a:solidFill>
                      <a:srgbClr val="212121"/>
                    </a:solidFill>
                    <a:uFillTx/>
                    <a:latin typeface="Source Sans 3 Semibold"/>
                    <a:ea typeface="Source Sans 3 Semibold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GLP‑1 weight loss</c:v>
                </c:pt>
                <c:pt idx="1">
                  <c:v>Coaching only</c:v>
                </c:pt>
              </c:strCache>
            </c:strRef>
          </c:cat>
          <c:val>
            <c:numRef>
              <c:f>0</c:f>
              <c:numCache>
                <c:formatCode>0.0\%</c:formatCode>
                <c:ptCount val="2"/>
                <c:pt idx="0">
                  <c:v>61.9</c:v>
                </c:pt>
                <c:pt idx="1">
                  <c:v>9.4</c:v>
                </c:pt>
              </c:numCache>
            </c:numRef>
          </c:val>
        </c:ser>
        <c:gapWidth val="65"/>
        <c:overlap val="0"/>
        <c:axId val="12733469"/>
        <c:axId val="40266340"/>
      </c:barChart>
      <c:catAx>
        <c:axId val="1273346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212121"/>
            </a:solidFill>
            <a:round/>
          </a:ln>
        </c:spPr>
        <c:txPr>
          <a:bodyPr/>
          <a:lstStyle/>
          <a:p>
            <a:pPr>
              <a:defRPr b="0" sz="1050" strike="noStrike" u="none">
                <a:solidFill>
                  <a:srgbClr val="212121"/>
                </a:solidFill>
                <a:uFillTx/>
                <a:latin typeface="Source Sans 3"/>
                <a:ea typeface="Source Sans 3"/>
              </a:defRPr>
            </a:pPr>
          </a:p>
        </c:txPr>
        <c:crossAx val="40266340"/>
        <c:crosses val="autoZero"/>
        <c:auto val="1"/>
        <c:lblAlgn val="ctr"/>
        <c:lblOffset val="100"/>
        <c:noMultiLvlLbl val="0"/>
      </c:catAx>
      <c:valAx>
        <c:axId val="40266340"/>
        <c:scaling>
          <c:orientation val="minMax"/>
          <c:max val="70"/>
          <c:min val="0"/>
        </c:scaling>
        <c:delete val="0"/>
        <c:axPos val="l"/>
        <c:majorGridlines>
          <c:spPr>
            <a:ln w="9360">
              <a:solidFill>
                <a:srgbClr val="e8e4da"/>
              </a:solidFill>
              <a:round/>
            </a:ln>
          </c:spPr>
        </c:majorGridlines>
        <c:numFmt formatCode="0.0\%" sourceLinked="0"/>
        <c:majorTickMark val="none"/>
        <c:minorTickMark val="none"/>
        <c:tickLblPos val="nextTo"/>
        <c:spPr>
          <a:ln w="0">
            <a:solidFill>
              <a:srgbClr val="fffcf3"/>
            </a:solidFill>
          </a:ln>
        </c:spPr>
        <c:txPr>
          <a:bodyPr/>
          <a:lstStyle/>
          <a:p>
            <a:pPr>
              <a:defRPr b="0" sz="900" strike="noStrike" u="none">
                <a:solidFill>
                  <a:srgbClr val="686868"/>
                </a:solidFill>
                <a:uFillTx/>
                <a:latin typeface="Source Sans 3"/>
                <a:ea typeface="Source Sans 3"/>
              </a:defRPr>
            </a:pPr>
          </a:p>
        </c:txPr>
        <c:crossAx val="12733469"/>
        <c:crosses val="autoZero"/>
        <c:crossBetween val="between"/>
        <c:majorUnit val="10"/>
      </c:valAx>
      <c:spPr>
        <a:noFill/>
        <a:ln w="0">
          <a:solidFill>
            <a:srgbClr val="fffcf3"/>
          </a:solidFill>
        </a:ln>
      </c:spPr>
    </c:plotArea>
    <c:plotVisOnly val="1"/>
    <c:dispBlanksAs val="zero"/>
  </c:chart>
  <c:spPr>
    <a:solidFill>
      <a:srgbClr val="fffcf3"/>
    </a:solidFill>
    <a:ln w="0">
      <a:solidFill>
        <a:srgbClr val="fffcf3"/>
      </a:solidFill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9C3ED93-8955-4D0D-825C-05F6370382C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Open with the two-part thesis: the pathway difference is large; engagement is promising but observational.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analysis\outputs\tables\nineam_outcomes_by_member_type.csv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analysis\outputs\tables\nineam_lasso_mean_selection.csv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analysis\outputs\tables\nineam_locked_model_coefficients_hc3.csv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B:\07_Luis\case-study-9amhealth_CLEAN-SLATE\9amHealth_BrandGuidelines.pdf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Walk leadership through the funnel, then pause on the follow-up imbalance before interpreting outcomes.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analysis\outputs\tables\nineam_cohort_flow.csv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analysis\outputs\tables\nineam_sample_characteristics.csv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analysis\outputs\tables\nineam_outcomes_by_member_type.csv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analysis\outputs\tables\nineam_engagement_by_member_type.csv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analysis\outputs\tables\nineam_modules_by_member_type.csv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B:\07_Luis\case-study-9amhealth_CLEAN-SLATE\9amHealth_BrandGuidelines.pdf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Emphasize that model selection is predictive, while the second stage is exploratory explanation—not causal attribution.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analysis\outputs\tables\nineam_base_model_comparison_summary.csv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analysis\outputs\tables\nineam_lasso_mean_selection.csv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B:\07_Luis\case-study-9amhealth_CLEAN-SLATE\9amHealth-Data-Analyst-Case--Briefing.md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B:\07_Luis\case-study-9amhealth_CLEAN-SLATE\9amHealth_BrandGuidelines.pdf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Lead with the responder-rate gap, then explicitly frame it as observational because assignment and follow-up were not controlled.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analysis\outputs\tables\nineam_outcomes_by_member_type.csv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analysis\outputs\tables\nineam_sample_characteristics.csv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B:\07_Luis\case-study-9amhealth_CLEAN-SLATE\9amHealth_BrandGuidelines.pdf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Separate the stable aggregate signal from the activity ranking. The ranking is hypothesis-generating and vulnerable to reverse causation.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analysis\outputs\tables\nineam_engagement_by_member_type.csv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analysis\outputs\tables\nineam_engagement_activity_summary.csv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analysis\outputs\tables\nineam_lasso_mean_selection.csv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B:\07_Luis\case-study-9amhealth_CLEAN-SLATE\9amHealth_BrandGuidelines.pdf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Translate the coefficients into percentage-point differences, then show that the duration sensitivity preserves the two main signals.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analysis\outputs\tables\nineam_locked_model_coefficients_hc3.csv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analysis\outputs\tables\nineam_locked_model_fit_statistics.csv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analysis\outputs\tables\nineam_model_diagnostics.csv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B:\07_Luis\case-study-9amhealth_CLEAN-SLATE\9amHealth_BrandGuidelines.pdf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Close with actions that convert observational signals into causal evidence: prospective pathways, randomized engagement support, and standardized measurement.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analysis\outputs\tables\nineam_findings_and_implications.csv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analysis\outputs\tables\nineam_limitations.csv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analysis\outputs\tables\nineam_locked_model_fit_statistics.csv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B:\07_Luis\case-study-9amhealth_CLEAN-SLATE\python analysis\outputs\tables\nineam_cohort_flow.csv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B:\07_Luis\case-study-9amhealth_CLEAN-SLATE\9amHealth-Data-Analyst-Case--Briefing.md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B:\07_Luis\case-study-9amhealth_CLEAN-SLATE\9amHealth_BrandGuidelines.pdf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F1E2369-C2DC-427E-B7FF-322A4EE28E7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D833DAF-409E-40C6-AF05-D5C5F19187E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38D60E0-2B27-47D3-9F2B-7C6DA893B4C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31E0AEF-8962-4DCC-A5A5-661ADA77B75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5959C9E-798E-4759-8A2C-174833B2F2A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BC1F910-BBCF-4CB9-BDE9-568390753EA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636EFB-3675-4486-A798-1538FF490E7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E8C1653-9AA1-4264-B124-2F369CEF9E7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2581002-0001-4209-AA02-CC0F7BC5EE2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A5B8C28-F67F-4AEE-ACE3-AD0280E93C0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3DD6265-C9CA-4E78-80A5-63EC21DF435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1219032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Box 2"/>
          <p:cNvSpPr/>
          <p:nvPr/>
        </p:nvSpPr>
        <p:spPr>
          <a:xfrm>
            <a:off x="822960" y="1554480"/>
            <a:ext cx="1051416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3600" strike="noStrike" u="none">
                <a:solidFill>
                  <a:srgbClr val="212121"/>
                </a:solidFill>
                <a:effectLst/>
                <a:uFillTx/>
                <a:latin typeface="Source Serif 4 Light"/>
                <a:ea typeface="Source Serif 4 Light"/>
              </a:rPr>
              <a:t>What appears to drive clinical weight improvement?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822960" y="3246120"/>
            <a:ext cx="105141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7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Among members with usable follow-up, the GLP‑1 weight-loss pathway showed substantially greater loss. Repeatable engagement was the only stable aggregate candidate.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527040" y="6366240"/>
            <a:ext cx="10514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3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Luis M. Rangel Jr. · Data Analyst Case Study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uide-footer-brand"/>
          <p:cNvSpPr/>
          <p:nvPr/>
        </p:nvSpPr>
        <p:spPr>
          <a:xfrm>
            <a:off x="3582000" y="6510600"/>
            <a:ext cx="8228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uide-page-number"/>
          <p:cNvSpPr/>
          <p:nvPr/>
        </p:nvSpPr>
        <p:spPr>
          <a:xfrm>
            <a:off x="11354400" y="285840"/>
            <a:ext cx="455760" cy="2728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822960" y="511920"/>
            <a:ext cx="126720" cy="126720"/>
          </a:xfrm>
          <a:prstGeom prst="rect">
            <a:avLst/>
          </a:prstGeom>
          <a:solidFill>
            <a:srgbClr val="80a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1033560" y="48348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3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Sample · Cohort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3"/>
          <p:cNvSpPr/>
          <p:nvPr/>
        </p:nvSpPr>
        <p:spPr>
          <a:xfrm>
            <a:off x="822960" y="768240"/>
            <a:ext cx="10514160" cy="1116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822960" y="868680"/>
            <a:ext cx="10834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320" strike="noStrike" u="none">
                <a:solidFill>
                  <a:srgbClr val="212121"/>
                </a:solidFill>
                <a:effectLst/>
                <a:uFillTx/>
                <a:latin typeface="Source Serif 4 Light"/>
                <a:ea typeface="Source Serif 4 Light"/>
              </a:rPr>
              <a:t>The analysis retains 534 of 865 enrollees—and follow-up differs sharply</a:t>
            </a:r>
            <a:endParaRPr b="0" lang="en-U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822960" y="4457880"/>
            <a:ext cx="59047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Sequential exclusions. The final 99 were Generic Medication (57), Null member type (35), or GLP‑1 Diabetes (7).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8" descr=""/>
          <p:cNvPicPr/>
          <p:nvPr/>
        </p:nvPicPr>
        <p:blipFill>
          <a:blip r:embed="rId1"/>
          <a:stretch/>
        </p:blipFill>
        <p:spPr>
          <a:xfrm>
            <a:off x="0" y="6327720"/>
            <a:ext cx="12190320" cy="11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9"/>
          <p:cNvSpPr/>
          <p:nvPr/>
        </p:nvSpPr>
        <p:spPr>
          <a:xfrm>
            <a:off x="3582000" y="6510600"/>
            <a:ext cx="8228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11354400" y="2858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9" name="Table 84"/>
          <p:cNvGraphicFramePr/>
          <p:nvPr/>
        </p:nvGraphicFramePr>
        <p:xfrm>
          <a:off x="822960" y="1824480"/>
          <a:ext cx="5904720" cy="2590560"/>
        </p:xfrm>
        <a:graphic>
          <a:graphicData uri="http://schemas.openxmlformats.org/drawingml/2006/table">
            <a:tbl>
              <a:tblPr/>
              <a:tblGrid>
                <a:gridCol w="3946320"/>
                <a:gridCol w="925200"/>
                <a:gridCol w="1033560"/>
              </a:tblGrid>
              <a:tr h="64764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 Semibold"/>
                          <a:ea typeface="Source Sans 3 Semibold"/>
                        </a:rPr>
                        <a:t>Analysis step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abd4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 Semibold"/>
                          <a:ea typeface="Source Sans 3 Semibold"/>
                        </a:rPr>
                        <a:t>Sample size, n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abd4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 Semibold"/>
                          <a:ea typeface="Source Sans 3 Semibold"/>
                        </a:rPr>
                        <a:t>Excluded, n (%)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abd4ff"/>
                    </a:solidFill>
                  </a:tcPr>
                </a:tc>
              </a:tr>
              <a:tr h="44892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Enrolled members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865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—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highlight>
                            <a:srgbClr val="fffcf3"/>
                          </a:highlight>
                          <a:uFillTx/>
                          <a:latin typeface="Source Sans 3"/>
                          <a:ea typeface="Source Sans 3"/>
                        </a:rPr>
                        <a:t>Body-weight records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highlight>
                          <a:srgbClr val="fffcf3"/>
                        </a:highlight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827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38 (4.4%)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Eligible status (ACTIVE/FINISHED)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825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2 (0.2%)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Positive weight interval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633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192 (23.3%)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64764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Primary comparable cohort: GLP‑1 Weight Loss or Coaching Only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534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99 (15.6%)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Table 85"/>
          <p:cNvGraphicFramePr/>
          <p:nvPr/>
        </p:nvGraphicFramePr>
        <p:xfrm>
          <a:off x="7000920" y="1752480"/>
          <a:ext cx="4571280" cy="2855160"/>
        </p:xfrm>
        <a:graphic>
          <a:graphicData uri="http://schemas.openxmlformats.org/drawingml/2006/table">
            <a:tbl>
              <a:tblPr/>
              <a:tblGrid>
                <a:gridCol w="2366640"/>
                <a:gridCol w="1075680"/>
                <a:gridCol w="1129320"/>
              </a:tblGrid>
              <a:tr h="40788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8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 Semibold"/>
                          <a:ea typeface="Source Sans 3 Semibold"/>
                        </a:rPr>
                        <a:t>Characteristic</a:t>
                      </a:r>
                      <a:endParaRPr b="0" lang="en-US" sz="98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abd4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8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 Semibold"/>
                          <a:ea typeface="Source Sans 3 Semibold"/>
                        </a:rPr>
                        <a:t>GLP‑1</a:t>
                      </a:r>
                      <a:endParaRPr b="0" lang="en-US" sz="98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abd4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8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 Semibold"/>
                          <a:ea typeface="Source Sans 3 Semibold"/>
                        </a:rPr>
                        <a:t>Coaching</a:t>
                      </a:r>
                      <a:endParaRPr b="0" lang="en-US" sz="98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abd4ff"/>
                    </a:solidFill>
                  </a:tcPr>
                </a:tc>
              </a:tr>
              <a:tr h="40788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Members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331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203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40788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Female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62.2%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59.1%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88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Baseline weight, mean (SD), lb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230.9 (58.3)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215.6 (50.2)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40788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Follow-up, median [IQR], days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217 [201, 230]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71 [23.5, 179.5]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88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Repeatable events, median [IQR]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95 [68, 119.5]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10 [2, 21]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40788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Core modules, median [IQR]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9 [6.5, 9]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0 [0, 1]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1" name="follow-up-caveat"/>
          <p:cNvSpPr/>
          <p:nvPr/>
        </p:nvSpPr>
        <p:spPr>
          <a:xfrm>
            <a:off x="7000920" y="4762440"/>
            <a:ext cx="4571280" cy="1142280"/>
          </a:xfrm>
          <a:prstGeom prst="rect">
            <a:avLst/>
          </a:prstGeom>
          <a:solidFill>
            <a:srgbClr val="fff3c7"/>
          </a:solidFill>
          <a:ln w="14288">
            <a:solidFill>
              <a:srgbClr val="ffbd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95400" bIns="954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1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Complete-case cohort · 534/865 retained (61.7%). Outcomes, sex, and engagement had no missing values; ethnicity was missing for 2 members; age was unavailable. Module noncompletion was coded 0. Selection may limit generalizability beyond the retained two-condition cohort.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822960" y="511920"/>
            <a:ext cx="126720" cy="126720"/>
          </a:xfrm>
          <a:prstGeom prst="rect">
            <a:avLst/>
          </a:prstGeom>
          <a:solidFill>
            <a:srgbClr val="80a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1033560" y="48384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3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Analytical Approach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3"/>
          <p:cNvSpPr/>
          <p:nvPr/>
        </p:nvSpPr>
        <p:spPr>
          <a:xfrm>
            <a:off x="822960" y="768240"/>
            <a:ext cx="10514160" cy="1116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822960" y="868680"/>
            <a:ext cx="108345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400" strike="noStrike" u="none">
                <a:solidFill>
                  <a:srgbClr val="212121"/>
                </a:solidFill>
                <a:effectLst/>
                <a:uFillTx/>
                <a:latin typeface="Source Serif 4 Light"/>
                <a:ea typeface="Source Serif 4 Light"/>
              </a:rPr>
              <a:t>Percentage-loss regression produced lower held-out error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822960" y="1790640"/>
            <a:ext cx="5809680" cy="33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Hypotheses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H1</a:t>
            </a:r>
            <a:r>
              <a:rPr b="0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  GLP‑1 Weight Loss is associated with greater percentage loss than Coaching Only after baseline-weight adjustment.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H2</a:t>
            </a:r>
            <a:r>
              <a:rPr b="0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  Greater repeatable engagement is associated with greater percentage loss.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H3</a:t>
            </a:r>
            <a:r>
              <a:rPr b="0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  Greater module completion is associated with greater percentage loss.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Two-occasion log-weight trajectory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log(weight) ~ time + member type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Marginal GLS with compound-symmetry correlation; baseline = 0 and follow-up = 1. The prespecified candidate assumes a common time effect.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Percentage-loss regression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percentage loss ~ baseline weight + member type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Baseline-adjusted percentage-point contrast; predictions were converted back to raw follow-up weight.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8" descr=""/>
          <p:cNvPicPr/>
          <p:nvPr/>
        </p:nvPicPr>
        <p:blipFill>
          <a:blip r:embed="rId1"/>
          <a:stretch/>
        </p:blipFill>
        <p:spPr>
          <a:xfrm>
            <a:off x="0" y="6327720"/>
            <a:ext cx="12190320" cy="11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Box 9"/>
          <p:cNvSpPr/>
          <p:nvPr/>
        </p:nvSpPr>
        <p:spPr>
          <a:xfrm>
            <a:off x="3582000" y="6510600"/>
            <a:ext cx="8228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11354400" y="2858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omparison-subhead"/>
          <p:cNvSpPr/>
          <p:nvPr/>
        </p:nvSpPr>
        <p:spPr>
          <a:xfrm>
            <a:off x="822960" y="1352520"/>
            <a:ext cx="10749240" cy="3232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Both candidates were evaluated on identical members and the same raw follow-up-weight target.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1" name="Table 86"/>
          <p:cNvGraphicFramePr/>
          <p:nvPr/>
        </p:nvGraphicFramePr>
        <p:xfrm>
          <a:off x="7000920" y="1952640"/>
          <a:ext cx="4571280" cy="1713960"/>
        </p:xfrm>
        <a:graphic>
          <a:graphicData uri="http://schemas.openxmlformats.org/drawingml/2006/table">
            <a:tbl>
              <a:tblPr/>
              <a:tblGrid>
                <a:gridCol w="2420280"/>
                <a:gridCol w="1075680"/>
                <a:gridCol w="1075680"/>
              </a:tblGrid>
              <a:tr h="57132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8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 Semibold"/>
                          <a:ea typeface="Source Sans 3 Semibold"/>
                        </a:rPr>
                        <a:t>Candidate model</a:t>
                      </a:r>
                      <a:endParaRPr b="0" lang="en-US" sz="98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abd4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8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 Semibold"/>
                          <a:ea typeface="Source Sans 3 Semibold"/>
                        </a:rPr>
                        <a:t>CV RMSE, lb</a:t>
                      </a:r>
                      <a:endParaRPr b="0" lang="en-US" sz="98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abd4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8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 Semibold"/>
                          <a:ea typeface="Source Sans 3 Semibold"/>
                        </a:rPr>
                        <a:t>CV MAE, lb</a:t>
                      </a:r>
                      <a:endParaRPr b="0" lang="en-US" sz="98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abd4ff"/>
                    </a:solidFill>
                  </a:tcPr>
                </a:tc>
              </a:tr>
              <a:tr h="57132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Percentage-loss regression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12.89 (0.73)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9.77 (0.43)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57132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Log-weight trajectory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15.09 (0.85)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39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11.95 (0.69)</a:t>
                      </a:r>
                      <a:endParaRPr b="0" lang="en-US" sz="939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1e9"/>
                    </a:solidFill>
                  </a:tcPr>
                </a:tc>
              </a:tr>
            </a:tbl>
          </a:graphicData>
        </a:graphic>
      </p:graphicFrame>
      <p:sp>
        <p:nvSpPr>
          <p:cNvPr id="92" name="selected-model-callout"/>
          <p:cNvSpPr/>
          <p:nvPr/>
        </p:nvSpPr>
        <p:spPr>
          <a:xfrm>
            <a:off x="7000920" y="3905280"/>
            <a:ext cx="4571280" cy="1094760"/>
          </a:xfrm>
          <a:prstGeom prst="rect">
            <a:avLst/>
          </a:prstGeom>
          <a:solidFill>
            <a:srgbClr val="abd4ff"/>
          </a:solidFill>
          <a:ln w="14288">
            <a:solidFill>
              <a:srgbClr val="80a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95400" bIns="9540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Selected outcome lens · Percentage-loss regression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9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RMSE was 2.20 lb lower and MAE was 2.18 lb lower. Values are mean (SD) across 10 held-out fold scores; fold SDs are not inferential confidence intervals.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election-workflow"/>
          <p:cNvSpPr/>
          <p:nvPr/>
        </p:nvSpPr>
        <p:spPr>
          <a:xfrm>
            <a:off x="822960" y="5315040"/>
            <a:ext cx="10749240" cy="589680"/>
          </a:xfrm>
          <a:prstGeom prst="rect">
            <a:avLst/>
          </a:prstGeom>
          <a:solidFill>
            <a:srgbClr val="fff3c7"/>
          </a:solidFill>
          <a:ln w="11906">
            <a:solidFill>
              <a:srgbClr val="ffbd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95400" bIns="9540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109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Select lower-error outcome  →  100 resamples  →  retain predictors selected ≥75%  →  exploratory HC3 refit  →  duration sensitivity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822960" y="511920"/>
            <a:ext cx="126720" cy="126720"/>
          </a:xfrm>
          <a:prstGeom prst="rect">
            <a:avLst/>
          </a:prstGeom>
          <a:solidFill>
            <a:srgbClr val="f7bd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1033560" y="48384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3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Findings · Weight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822960" y="768240"/>
            <a:ext cx="10514160" cy="1116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822960" y="868680"/>
            <a:ext cx="105141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550" strike="noStrike" u="none">
                <a:solidFill>
                  <a:srgbClr val="212121"/>
                </a:solidFill>
                <a:effectLst/>
                <a:uFillTx/>
                <a:latin typeface="Source Serif 4 Light"/>
                <a:ea typeface="Source Serif 4 Light"/>
              </a:rPr>
              <a:t>GLP‑1 members show a markedly stronger observed weight-loss response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822960" y="1886040"/>
            <a:ext cx="3475800" cy="39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5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Observed outcomes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5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GLP‑1 vs Coaching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7.43% vs 0.56%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Mean percentage loss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6.94% vs 0.36%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Median percentage loss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Interpretation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The separation is large, but member type was not randomized and follow-up differed.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Picture 7" descr=""/>
          <p:cNvPicPr/>
          <p:nvPr/>
        </p:nvPicPr>
        <p:blipFill>
          <a:blip r:embed="rId1"/>
          <a:stretch/>
        </p:blipFill>
        <p:spPr>
          <a:xfrm>
            <a:off x="0" y="6327720"/>
            <a:ext cx="12190320" cy="11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8"/>
          <p:cNvSpPr/>
          <p:nvPr/>
        </p:nvSpPr>
        <p:spPr>
          <a:xfrm>
            <a:off x="3582000" y="6510600"/>
            <a:ext cx="8228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11354400" y="2858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4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2" name="weight-loss-response-rate"/>
          <p:cNvGraphicFramePr/>
          <p:nvPr/>
        </p:nvGraphicFramePr>
        <p:xfrm>
          <a:off x="5000760" y="2000160"/>
          <a:ext cx="6285960" cy="319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3" name="response-gap-callout"/>
          <p:cNvSpPr/>
          <p:nvPr/>
        </p:nvSpPr>
        <p:spPr>
          <a:xfrm>
            <a:off x="5429160" y="5286240"/>
            <a:ext cx="5380920" cy="666000"/>
          </a:xfrm>
          <a:prstGeom prst="rect">
            <a:avLst/>
          </a:prstGeom>
          <a:solidFill>
            <a:srgbClr val="ffeff9"/>
          </a:solidFill>
          <a:ln w="14288">
            <a:solidFill>
              <a:srgbClr val="f7bd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95400" bIns="9540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113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52.6 percentage-point observed gap in ≥5% response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13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95% Wilson CIs: GLP‑1 56.6–67.0% · Coaching 6.1–14.2%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822960" y="511920"/>
            <a:ext cx="126720" cy="126720"/>
          </a:xfrm>
          <a:prstGeom prst="rect">
            <a:avLst/>
          </a:prstGeom>
          <a:solidFill>
            <a:srgbClr val="ffbd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1033560" y="48348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3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Findings · Engagement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3"/>
          <p:cNvSpPr/>
          <p:nvPr/>
        </p:nvSpPr>
        <p:spPr>
          <a:xfrm>
            <a:off x="822960" y="768240"/>
            <a:ext cx="10514160" cy="1116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822960" y="868680"/>
            <a:ext cx="1083456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19999"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250" strike="noStrike" u="none">
                <a:solidFill>
                  <a:srgbClr val="212121"/>
                </a:solidFill>
                <a:effectLst/>
                <a:uFillTx/>
                <a:latin typeface="Source Serif 4 Light"/>
                <a:ea typeface="Source Serif 4 Light"/>
              </a:rPr>
              <a:t>Repeatable engagement was the only stable candidate; activity-level signals remain exploratory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Picture 7" descr=""/>
          <p:cNvPicPr/>
          <p:nvPr/>
        </p:nvPicPr>
        <p:blipFill>
          <a:blip r:embed="rId1"/>
          <a:stretch/>
        </p:blipFill>
        <p:spPr>
          <a:xfrm>
            <a:off x="0" y="6327720"/>
            <a:ext cx="12190320" cy="11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Box 8"/>
          <p:cNvSpPr/>
          <p:nvPr/>
        </p:nvSpPr>
        <p:spPr>
          <a:xfrm>
            <a:off x="3582000" y="6510600"/>
            <a:ext cx="8228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11354400" y="2858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5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engagement-context"/>
          <p:cNvSpPr/>
          <p:nvPr/>
        </p:nvSpPr>
        <p:spPr>
          <a:xfrm>
            <a:off x="822960" y="1544400"/>
            <a:ext cx="1074924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13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Median repeatable events [IQR]: GLP‑1 95 [68–120] vs Coaching 10 [2–21]; activity and weight-outcome windows overlapped.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tability-title"/>
          <p:cNvSpPr/>
          <p:nvPr/>
        </p:nvSpPr>
        <p:spPr>
          <a:xfrm>
            <a:off x="822960" y="1947600"/>
            <a:ext cx="3714120" cy="28512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8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Aggregate candidate stability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tability-label-1"/>
          <p:cNvSpPr/>
          <p:nvPr/>
        </p:nvSpPr>
        <p:spPr>
          <a:xfrm>
            <a:off x="822960" y="2385720"/>
            <a:ext cx="214236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Repeatable engagement volume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tability-track-1"/>
          <p:cNvSpPr/>
          <p:nvPr/>
        </p:nvSpPr>
        <p:spPr>
          <a:xfrm>
            <a:off x="3067200" y="2442600"/>
            <a:ext cx="1285200" cy="142200"/>
          </a:xfrm>
          <a:prstGeom prst="rect">
            <a:avLst/>
          </a:prstGeom>
          <a:solidFill>
            <a:srgbClr val="e8e4da"/>
          </a:solidFill>
          <a:ln w="0">
            <a:solidFill>
              <a:srgbClr val="e8e4d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stability-bar-1"/>
          <p:cNvSpPr/>
          <p:nvPr/>
        </p:nvSpPr>
        <p:spPr>
          <a:xfrm>
            <a:off x="3067200" y="2442600"/>
            <a:ext cx="1053720" cy="142200"/>
          </a:xfrm>
          <a:prstGeom prst="rect">
            <a:avLst/>
          </a:prstGeom>
          <a:solidFill>
            <a:srgbClr val="80aeff"/>
          </a:solidFill>
          <a:ln w="0">
            <a:solidFill>
              <a:srgbClr val="80ae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stability-value-1"/>
          <p:cNvSpPr/>
          <p:nvPr/>
        </p:nvSpPr>
        <p:spPr>
          <a:xfrm>
            <a:off x="4400640" y="2385720"/>
            <a:ext cx="39924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US" sz="98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82%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tability-label-2"/>
          <p:cNvSpPr/>
          <p:nvPr/>
        </p:nvSpPr>
        <p:spPr>
          <a:xfrm>
            <a:off x="822960" y="2747520"/>
            <a:ext cx="214236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Overall module mean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tability-track-2"/>
          <p:cNvSpPr/>
          <p:nvPr/>
        </p:nvSpPr>
        <p:spPr>
          <a:xfrm>
            <a:off x="3067200" y="2804760"/>
            <a:ext cx="1285200" cy="142200"/>
          </a:xfrm>
          <a:prstGeom prst="rect">
            <a:avLst/>
          </a:prstGeom>
          <a:solidFill>
            <a:srgbClr val="e8e4da"/>
          </a:solidFill>
          <a:ln w="0">
            <a:solidFill>
              <a:srgbClr val="e8e4d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stability-bar-2"/>
          <p:cNvSpPr/>
          <p:nvPr/>
        </p:nvSpPr>
        <p:spPr>
          <a:xfrm>
            <a:off x="3067200" y="2804760"/>
            <a:ext cx="552240" cy="142200"/>
          </a:xfrm>
          <a:prstGeom prst="rect">
            <a:avLst/>
          </a:prstGeom>
          <a:solidFill>
            <a:srgbClr val="c8c4ba"/>
          </a:solidFill>
          <a:ln w="0">
            <a:solidFill>
              <a:srgbClr val="c8c4b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stability-value-2"/>
          <p:cNvSpPr/>
          <p:nvPr/>
        </p:nvSpPr>
        <p:spPr>
          <a:xfrm>
            <a:off x="4400640" y="2747520"/>
            <a:ext cx="39924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US" sz="9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43%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tability-label-3"/>
          <p:cNvSpPr/>
          <p:nvPr/>
        </p:nvSpPr>
        <p:spPr>
          <a:xfrm>
            <a:off x="822960" y="3109320"/>
            <a:ext cx="214236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</a:pPr>
            <a:r>
              <a:rPr b="0" lang="en-US" sz="9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Tenure-normalized engagement rate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tability-track-3"/>
          <p:cNvSpPr/>
          <p:nvPr/>
        </p:nvSpPr>
        <p:spPr>
          <a:xfrm>
            <a:off x="3067200" y="3166560"/>
            <a:ext cx="1285200" cy="142200"/>
          </a:xfrm>
          <a:prstGeom prst="rect">
            <a:avLst/>
          </a:prstGeom>
          <a:solidFill>
            <a:srgbClr val="e8e4da"/>
          </a:solidFill>
          <a:ln w="0">
            <a:solidFill>
              <a:srgbClr val="e8e4d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stability-bar-3"/>
          <p:cNvSpPr/>
          <p:nvPr/>
        </p:nvSpPr>
        <p:spPr>
          <a:xfrm>
            <a:off x="3067200" y="3166560"/>
            <a:ext cx="179280" cy="142200"/>
          </a:xfrm>
          <a:prstGeom prst="rect">
            <a:avLst/>
          </a:prstGeom>
          <a:solidFill>
            <a:srgbClr val="c8c4ba"/>
          </a:solidFill>
          <a:ln w="0">
            <a:solidFill>
              <a:srgbClr val="c8c4b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stability-value-3"/>
          <p:cNvSpPr/>
          <p:nvPr/>
        </p:nvSpPr>
        <p:spPr>
          <a:xfrm>
            <a:off x="4400640" y="3109320"/>
            <a:ext cx="39924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US" sz="9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14%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tability-label-4"/>
          <p:cNvSpPr/>
          <p:nvPr/>
        </p:nvSpPr>
        <p:spPr>
          <a:xfrm>
            <a:off x="822960" y="3471480"/>
            <a:ext cx="214236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Sex: male vs female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tability-track-4"/>
          <p:cNvSpPr/>
          <p:nvPr/>
        </p:nvSpPr>
        <p:spPr>
          <a:xfrm>
            <a:off x="3067200" y="3528720"/>
            <a:ext cx="1285200" cy="142200"/>
          </a:xfrm>
          <a:prstGeom prst="rect">
            <a:avLst/>
          </a:prstGeom>
          <a:solidFill>
            <a:srgbClr val="e8e4da"/>
          </a:solidFill>
          <a:ln w="0">
            <a:solidFill>
              <a:srgbClr val="e8e4d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stability-bar-4"/>
          <p:cNvSpPr/>
          <p:nvPr/>
        </p:nvSpPr>
        <p:spPr>
          <a:xfrm>
            <a:off x="3067200" y="3528720"/>
            <a:ext cx="12240" cy="142200"/>
          </a:xfrm>
          <a:prstGeom prst="rect">
            <a:avLst/>
          </a:prstGeom>
          <a:solidFill>
            <a:srgbClr val="c8c4ba"/>
          </a:solidFill>
          <a:ln w="0">
            <a:solidFill>
              <a:srgbClr val="c8c4b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stability-value-4"/>
          <p:cNvSpPr/>
          <p:nvPr/>
        </p:nvSpPr>
        <p:spPr>
          <a:xfrm>
            <a:off x="4400640" y="3471480"/>
            <a:ext cx="39924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US" sz="9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1%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tability-label-5"/>
          <p:cNvSpPr/>
          <p:nvPr/>
        </p:nvSpPr>
        <p:spPr>
          <a:xfrm>
            <a:off x="822960" y="3833280"/>
            <a:ext cx="214236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Engagement breadth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tability-track-5"/>
          <p:cNvSpPr/>
          <p:nvPr/>
        </p:nvSpPr>
        <p:spPr>
          <a:xfrm>
            <a:off x="3067200" y="3890520"/>
            <a:ext cx="1285200" cy="142200"/>
          </a:xfrm>
          <a:prstGeom prst="rect">
            <a:avLst/>
          </a:prstGeom>
          <a:solidFill>
            <a:srgbClr val="e8e4da"/>
          </a:solidFill>
          <a:ln w="0">
            <a:solidFill>
              <a:srgbClr val="e8e4d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stability-value-5"/>
          <p:cNvSpPr/>
          <p:nvPr/>
        </p:nvSpPr>
        <p:spPr>
          <a:xfrm>
            <a:off x="4400640" y="3833280"/>
            <a:ext cx="39924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US" sz="9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0%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tability-label-6"/>
          <p:cNvSpPr/>
          <p:nvPr/>
        </p:nvSpPr>
        <p:spPr>
          <a:xfrm>
            <a:off x="822960" y="4195440"/>
            <a:ext cx="214236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Program tenure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tability-track-6"/>
          <p:cNvSpPr/>
          <p:nvPr/>
        </p:nvSpPr>
        <p:spPr>
          <a:xfrm>
            <a:off x="3067200" y="4252320"/>
            <a:ext cx="1285200" cy="142200"/>
          </a:xfrm>
          <a:prstGeom prst="rect">
            <a:avLst/>
          </a:prstGeom>
          <a:solidFill>
            <a:srgbClr val="e8e4da"/>
          </a:solidFill>
          <a:ln w="0">
            <a:solidFill>
              <a:srgbClr val="e8e4d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tability-value-6"/>
          <p:cNvSpPr/>
          <p:nvPr/>
        </p:nvSpPr>
        <p:spPr>
          <a:xfrm>
            <a:off x="4400640" y="4195440"/>
            <a:ext cx="39924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US" sz="9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0%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tability-threshold-line"/>
          <p:cNvSpPr/>
          <p:nvPr/>
        </p:nvSpPr>
        <p:spPr>
          <a:xfrm>
            <a:off x="4031280" y="2347200"/>
            <a:ext cx="360" cy="2133720"/>
          </a:xfrm>
          <a:prstGeom prst="line">
            <a:avLst/>
          </a:prstGeom>
          <a:ln w="14288">
            <a:solidFill>
              <a:srgbClr val="21212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stability-threshold-label"/>
          <p:cNvSpPr/>
          <p:nvPr/>
        </p:nvSpPr>
        <p:spPr>
          <a:xfrm>
            <a:off x="2857680" y="4538160"/>
            <a:ext cx="180900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r"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686868"/>
                </a:solidFill>
                <a:effectLst/>
                <a:uFillTx/>
                <a:latin typeface="Source Sans 3"/>
                <a:ea typeface="Source Sans 3"/>
              </a:rPr>
              <a:t>Prespecified selection threshold · 75%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tability-caption"/>
          <p:cNvSpPr/>
          <p:nvPr/>
        </p:nvSpPr>
        <p:spPr>
          <a:xfrm>
            <a:off x="822960" y="4806000"/>
            <a:ext cx="3904560" cy="30420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860" strike="noStrike" u="none">
                <a:solidFill>
                  <a:srgbClr val="686868"/>
                </a:solidFill>
                <a:effectLst/>
                <a:uFillTx/>
                <a:latin typeface="Source Sans 3"/>
                <a:ea typeface="Source Sans 3"/>
              </a:rPr>
              <a:t>100 resamples · 70% member subsamples · winning mean-module specification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forest-title"/>
          <p:cNvSpPr/>
          <p:nvPr/>
        </p:nvSpPr>
        <p:spPr>
          <a:xfrm>
            <a:off x="5048280" y="1947600"/>
            <a:ext cx="6523920" cy="28512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Largest FDR-significant associations among repeatable activities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forest-zero-line"/>
          <p:cNvSpPr/>
          <p:nvPr/>
        </p:nvSpPr>
        <p:spPr>
          <a:xfrm>
            <a:off x="7524720" y="2347200"/>
            <a:ext cx="360" cy="2247840"/>
          </a:xfrm>
          <a:prstGeom prst="line">
            <a:avLst/>
          </a:prstGeom>
          <a:ln w="11906">
            <a:solidFill>
              <a:srgbClr val="21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orest-grid-0"/>
          <p:cNvSpPr/>
          <p:nvPr/>
        </p:nvSpPr>
        <p:spPr>
          <a:xfrm>
            <a:off x="7524720" y="2347200"/>
            <a:ext cx="360" cy="2247840"/>
          </a:xfrm>
          <a:prstGeom prst="line">
            <a:avLst/>
          </a:prstGeom>
          <a:ln w="11906">
            <a:solidFill>
              <a:srgbClr val="21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forest-tick-0"/>
          <p:cNvSpPr/>
          <p:nvPr/>
        </p:nvSpPr>
        <p:spPr>
          <a:xfrm>
            <a:off x="7400880" y="4597200"/>
            <a:ext cx="246960" cy="2278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860" strike="noStrike" u="none">
                <a:solidFill>
                  <a:srgbClr val="686868"/>
                </a:solidFill>
                <a:effectLst/>
                <a:uFillTx/>
                <a:latin typeface="Source Sans 3"/>
                <a:ea typeface="Source Sans 3"/>
              </a:rPr>
              <a:t>0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forest-grid-1"/>
          <p:cNvSpPr/>
          <p:nvPr/>
        </p:nvSpPr>
        <p:spPr>
          <a:xfrm>
            <a:off x="8172360" y="2347200"/>
            <a:ext cx="360" cy="2247840"/>
          </a:xfrm>
          <a:prstGeom prst="line">
            <a:avLst/>
          </a:prstGeom>
          <a:ln w="9525">
            <a:solidFill>
              <a:srgbClr val="dedad0"/>
            </a:solidFill>
            <a:prstDash val="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forest-tick-1"/>
          <p:cNvSpPr/>
          <p:nvPr/>
        </p:nvSpPr>
        <p:spPr>
          <a:xfrm>
            <a:off x="8048520" y="4597200"/>
            <a:ext cx="246960" cy="2278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860" strike="noStrike" u="none">
                <a:solidFill>
                  <a:srgbClr val="686868"/>
                </a:solidFill>
                <a:effectLst/>
                <a:uFillTx/>
                <a:latin typeface="Source Sans 3"/>
                <a:ea typeface="Source Sans 3"/>
              </a:rPr>
              <a:t>1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forest-grid-2"/>
          <p:cNvSpPr/>
          <p:nvPr/>
        </p:nvSpPr>
        <p:spPr>
          <a:xfrm>
            <a:off x="8820000" y="2347200"/>
            <a:ext cx="360" cy="2247840"/>
          </a:xfrm>
          <a:prstGeom prst="line">
            <a:avLst/>
          </a:prstGeom>
          <a:ln w="9525">
            <a:solidFill>
              <a:srgbClr val="dedad0"/>
            </a:solidFill>
            <a:prstDash val="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forest-tick-2"/>
          <p:cNvSpPr/>
          <p:nvPr/>
        </p:nvSpPr>
        <p:spPr>
          <a:xfrm>
            <a:off x="8696160" y="4597200"/>
            <a:ext cx="246960" cy="2278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860" strike="noStrike" u="none">
                <a:solidFill>
                  <a:srgbClr val="686868"/>
                </a:solidFill>
                <a:effectLst/>
                <a:uFillTx/>
                <a:latin typeface="Source Sans 3"/>
                <a:ea typeface="Source Sans 3"/>
              </a:rPr>
              <a:t>2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forest-grid-3"/>
          <p:cNvSpPr/>
          <p:nvPr/>
        </p:nvSpPr>
        <p:spPr>
          <a:xfrm>
            <a:off x="9467640" y="2347200"/>
            <a:ext cx="360" cy="2247840"/>
          </a:xfrm>
          <a:prstGeom prst="line">
            <a:avLst/>
          </a:prstGeom>
          <a:ln w="9525">
            <a:solidFill>
              <a:srgbClr val="dedad0"/>
            </a:solidFill>
            <a:prstDash val="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forest-tick-3"/>
          <p:cNvSpPr/>
          <p:nvPr/>
        </p:nvSpPr>
        <p:spPr>
          <a:xfrm>
            <a:off x="9344160" y="4597200"/>
            <a:ext cx="246960" cy="2278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860" strike="noStrike" u="none">
                <a:solidFill>
                  <a:srgbClr val="686868"/>
                </a:solidFill>
                <a:effectLst/>
                <a:uFillTx/>
                <a:latin typeface="Source Sans 3"/>
                <a:ea typeface="Source Sans 3"/>
              </a:rPr>
              <a:t>3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forest-grid-4"/>
          <p:cNvSpPr/>
          <p:nvPr/>
        </p:nvSpPr>
        <p:spPr>
          <a:xfrm>
            <a:off x="10115280" y="2347200"/>
            <a:ext cx="360" cy="2247840"/>
          </a:xfrm>
          <a:prstGeom prst="line">
            <a:avLst/>
          </a:prstGeom>
          <a:ln w="9525">
            <a:solidFill>
              <a:srgbClr val="dedad0"/>
            </a:solidFill>
            <a:prstDash val="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forest-tick-4"/>
          <p:cNvSpPr/>
          <p:nvPr/>
        </p:nvSpPr>
        <p:spPr>
          <a:xfrm>
            <a:off x="9991800" y="4597200"/>
            <a:ext cx="246960" cy="2278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860" strike="noStrike" u="none">
                <a:solidFill>
                  <a:srgbClr val="686868"/>
                </a:solidFill>
                <a:effectLst/>
                <a:uFillTx/>
                <a:latin typeface="Source Sans 3"/>
                <a:ea typeface="Source Sans 3"/>
              </a:rPr>
              <a:t>4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forest-grid-5"/>
          <p:cNvSpPr/>
          <p:nvPr/>
        </p:nvSpPr>
        <p:spPr>
          <a:xfrm>
            <a:off x="10762920" y="2347200"/>
            <a:ext cx="360" cy="2247840"/>
          </a:xfrm>
          <a:prstGeom prst="line">
            <a:avLst/>
          </a:prstGeom>
          <a:ln w="9525">
            <a:solidFill>
              <a:srgbClr val="dedad0"/>
            </a:solidFill>
            <a:prstDash val="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forest-tick-5"/>
          <p:cNvSpPr/>
          <p:nvPr/>
        </p:nvSpPr>
        <p:spPr>
          <a:xfrm>
            <a:off x="10639440" y="4597200"/>
            <a:ext cx="246960" cy="2278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860" strike="noStrike" u="none">
                <a:solidFill>
                  <a:srgbClr val="686868"/>
                </a:solidFill>
                <a:effectLst/>
                <a:uFillTx/>
                <a:latin typeface="Source Sans 3"/>
                <a:ea typeface="Source Sans 3"/>
              </a:rPr>
              <a:t>5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forest-label-1"/>
          <p:cNvSpPr/>
          <p:nvPr/>
        </p:nvSpPr>
        <p:spPr>
          <a:xfrm>
            <a:off x="5048280" y="2395080"/>
            <a:ext cx="2380680" cy="3610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Completed consultation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Care delivery · n=357 · q&lt;.001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forest-ci-1"/>
          <p:cNvSpPr/>
          <p:nvPr/>
        </p:nvSpPr>
        <p:spPr>
          <a:xfrm>
            <a:off x="8813520" y="2566440"/>
            <a:ext cx="1638720" cy="360"/>
          </a:xfrm>
          <a:prstGeom prst="line">
            <a:avLst/>
          </a:prstGeom>
          <a:ln w="21431">
            <a:solidFill>
              <a:srgbClr val="ffbd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forest-whisker-1-lo"/>
          <p:cNvSpPr/>
          <p:nvPr/>
        </p:nvSpPr>
        <p:spPr>
          <a:xfrm>
            <a:off x="8813520" y="2528280"/>
            <a:ext cx="360" cy="76320"/>
          </a:xfrm>
          <a:prstGeom prst="line">
            <a:avLst/>
          </a:prstGeom>
          <a:ln w="14288">
            <a:solidFill>
              <a:srgbClr val="ffbd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forest-whisker-1-hi"/>
          <p:cNvSpPr/>
          <p:nvPr/>
        </p:nvSpPr>
        <p:spPr>
          <a:xfrm>
            <a:off x="10452240" y="2528280"/>
            <a:ext cx="360" cy="76320"/>
          </a:xfrm>
          <a:prstGeom prst="line">
            <a:avLst/>
          </a:prstGeom>
          <a:ln w="14288">
            <a:solidFill>
              <a:srgbClr val="ffbd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forest-point-1"/>
          <p:cNvSpPr/>
          <p:nvPr/>
        </p:nvSpPr>
        <p:spPr>
          <a:xfrm>
            <a:off x="9582120" y="2518920"/>
            <a:ext cx="94680" cy="94680"/>
          </a:xfrm>
          <a:prstGeom prst="ellipse">
            <a:avLst/>
          </a:prstGeom>
          <a:solidFill>
            <a:srgbClr val="ffbd70"/>
          </a:solidFill>
          <a:ln w="7144">
            <a:solidFill>
              <a:srgbClr val="21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forest-estimate-1"/>
          <p:cNvSpPr/>
          <p:nvPr/>
        </p:nvSpPr>
        <p:spPr>
          <a:xfrm>
            <a:off x="10839600" y="2452320"/>
            <a:ext cx="551880" cy="2278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+3.25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forest-label-2"/>
          <p:cNvSpPr/>
          <p:nvPr/>
        </p:nvSpPr>
        <p:spPr>
          <a:xfrm>
            <a:off x="5048280" y="2823840"/>
            <a:ext cx="2380680" cy="3610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Medication change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Care delivery · n=319 · q&lt;.001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forest-ci-2"/>
          <p:cNvSpPr/>
          <p:nvPr/>
        </p:nvSpPr>
        <p:spPr>
          <a:xfrm>
            <a:off x="8314920" y="2994840"/>
            <a:ext cx="1541520" cy="360"/>
          </a:xfrm>
          <a:prstGeom prst="line">
            <a:avLst/>
          </a:prstGeom>
          <a:ln w="21431">
            <a:solidFill>
              <a:srgbClr val="ffbd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forest-whisker-2-lo"/>
          <p:cNvSpPr/>
          <p:nvPr/>
        </p:nvSpPr>
        <p:spPr>
          <a:xfrm>
            <a:off x="8314920" y="2957040"/>
            <a:ext cx="360" cy="75960"/>
          </a:xfrm>
          <a:prstGeom prst="line">
            <a:avLst/>
          </a:prstGeom>
          <a:ln w="14288">
            <a:solidFill>
              <a:srgbClr val="ffbd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0960" bIns="3096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forest-whisker-2-hi"/>
          <p:cNvSpPr/>
          <p:nvPr/>
        </p:nvSpPr>
        <p:spPr>
          <a:xfrm>
            <a:off x="9856440" y="2957040"/>
            <a:ext cx="360" cy="75960"/>
          </a:xfrm>
          <a:prstGeom prst="line">
            <a:avLst/>
          </a:prstGeom>
          <a:ln w="14288">
            <a:solidFill>
              <a:srgbClr val="ffbd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0960" bIns="3096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forest-point-2"/>
          <p:cNvSpPr/>
          <p:nvPr/>
        </p:nvSpPr>
        <p:spPr>
          <a:xfrm>
            <a:off x="9038160" y="2947680"/>
            <a:ext cx="94680" cy="94680"/>
          </a:xfrm>
          <a:prstGeom prst="ellipse">
            <a:avLst/>
          </a:prstGeom>
          <a:solidFill>
            <a:srgbClr val="ffbd70"/>
          </a:solidFill>
          <a:ln w="7144">
            <a:solidFill>
              <a:srgbClr val="21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forest-estimate-2"/>
          <p:cNvSpPr/>
          <p:nvPr/>
        </p:nvSpPr>
        <p:spPr>
          <a:xfrm>
            <a:off x="10839600" y="2880720"/>
            <a:ext cx="551880" cy="2278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+2.41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forest-label-3"/>
          <p:cNvSpPr/>
          <p:nvPr/>
        </p:nvSpPr>
        <p:spPr>
          <a:xfrm>
            <a:off x="5048280" y="3252240"/>
            <a:ext cx="2380680" cy="3610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Chart review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Care delivery · n=450 · q&lt;.001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forest-ci-3"/>
          <p:cNvSpPr/>
          <p:nvPr/>
        </p:nvSpPr>
        <p:spPr>
          <a:xfrm>
            <a:off x="8139960" y="3423600"/>
            <a:ext cx="1392480" cy="360"/>
          </a:xfrm>
          <a:prstGeom prst="line">
            <a:avLst/>
          </a:prstGeom>
          <a:ln w="21431">
            <a:solidFill>
              <a:srgbClr val="ffbd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forest-whisker-3-lo"/>
          <p:cNvSpPr/>
          <p:nvPr/>
        </p:nvSpPr>
        <p:spPr>
          <a:xfrm>
            <a:off x="8139960" y="3385440"/>
            <a:ext cx="360" cy="76320"/>
          </a:xfrm>
          <a:prstGeom prst="line">
            <a:avLst/>
          </a:prstGeom>
          <a:ln w="14288">
            <a:solidFill>
              <a:srgbClr val="ffbd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forest-whisker-3-hi"/>
          <p:cNvSpPr/>
          <p:nvPr/>
        </p:nvSpPr>
        <p:spPr>
          <a:xfrm>
            <a:off x="9532440" y="3385440"/>
            <a:ext cx="360" cy="76320"/>
          </a:xfrm>
          <a:prstGeom prst="line">
            <a:avLst/>
          </a:prstGeom>
          <a:ln w="14288">
            <a:solidFill>
              <a:srgbClr val="ffbd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forest-point-3"/>
          <p:cNvSpPr/>
          <p:nvPr/>
        </p:nvSpPr>
        <p:spPr>
          <a:xfrm>
            <a:off x="8785440" y="3376080"/>
            <a:ext cx="94680" cy="94680"/>
          </a:xfrm>
          <a:prstGeom prst="ellipse">
            <a:avLst/>
          </a:prstGeom>
          <a:solidFill>
            <a:srgbClr val="ffbd70"/>
          </a:solidFill>
          <a:ln w="7144">
            <a:solidFill>
              <a:srgbClr val="21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forest-estimate-3"/>
          <p:cNvSpPr/>
          <p:nvPr/>
        </p:nvSpPr>
        <p:spPr>
          <a:xfrm>
            <a:off x="10839600" y="3309480"/>
            <a:ext cx="551880" cy="2278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+2.02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forest-label-4"/>
          <p:cNvSpPr/>
          <p:nvPr/>
        </p:nvSpPr>
        <p:spPr>
          <a:xfrm>
            <a:off x="5048280" y="3681000"/>
            <a:ext cx="2380680" cy="3610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Consumed digital content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Member behavior · n=432 · q&lt;.001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forest-ci-4"/>
          <p:cNvSpPr/>
          <p:nvPr/>
        </p:nvSpPr>
        <p:spPr>
          <a:xfrm>
            <a:off x="8165880" y="3852360"/>
            <a:ext cx="1068480" cy="360"/>
          </a:xfrm>
          <a:prstGeom prst="line">
            <a:avLst/>
          </a:prstGeom>
          <a:ln w="21431">
            <a:solidFill>
              <a:srgbClr val="80a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forest-whisker-4-lo"/>
          <p:cNvSpPr/>
          <p:nvPr/>
        </p:nvSpPr>
        <p:spPr>
          <a:xfrm>
            <a:off x="8165880" y="3814200"/>
            <a:ext cx="360" cy="76320"/>
          </a:xfrm>
          <a:prstGeom prst="line">
            <a:avLst/>
          </a:prstGeom>
          <a:ln w="14288">
            <a:solidFill>
              <a:srgbClr val="80a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forest-whisker-4-hi"/>
          <p:cNvSpPr/>
          <p:nvPr/>
        </p:nvSpPr>
        <p:spPr>
          <a:xfrm>
            <a:off x="9234360" y="3814200"/>
            <a:ext cx="360" cy="76320"/>
          </a:xfrm>
          <a:prstGeom prst="line">
            <a:avLst/>
          </a:prstGeom>
          <a:ln w="14288">
            <a:solidFill>
              <a:srgbClr val="80a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forest-point-4"/>
          <p:cNvSpPr/>
          <p:nvPr/>
        </p:nvSpPr>
        <p:spPr>
          <a:xfrm>
            <a:off x="8655840" y="3804840"/>
            <a:ext cx="94680" cy="94680"/>
          </a:xfrm>
          <a:prstGeom prst="ellipse">
            <a:avLst/>
          </a:prstGeom>
          <a:solidFill>
            <a:srgbClr val="80aeff"/>
          </a:solidFill>
          <a:ln w="7144">
            <a:solidFill>
              <a:srgbClr val="21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forest-estimate-4"/>
          <p:cNvSpPr/>
          <p:nvPr/>
        </p:nvSpPr>
        <p:spPr>
          <a:xfrm>
            <a:off x="10839600" y="3738240"/>
            <a:ext cx="551880" cy="2278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+1.82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forest-label-5"/>
          <p:cNvSpPr/>
          <p:nvPr/>
        </p:nvSpPr>
        <p:spPr>
          <a:xfrm>
            <a:off x="5048280" y="4109760"/>
            <a:ext cx="2380680" cy="3610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Questionnaire answered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Member behavior · n=505 · q.010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forest-ci-5"/>
          <p:cNvSpPr/>
          <p:nvPr/>
        </p:nvSpPr>
        <p:spPr>
          <a:xfrm>
            <a:off x="7854840" y="4280760"/>
            <a:ext cx="1424880" cy="360"/>
          </a:xfrm>
          <a:prstGeom prst="line">
            <a:avLst/>
          </a:prstGeom>
          <a:ln w="21431">
            <a:solidFill>
              <a:srgbClr val="80a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forest-whisker-5-lo"/>
          <p:cNvSpPr/>
          <p:nvPr/>
        </p:nvSpPr>
        <p:spPr>
          <a:xfrm>
            <a:off x="7854840" y="4242600"/>
            <a:ext cx="360" cy="76320"/>
          </a:xfrm>
          <a:prstGeom prst="line">
            <a:avLst/>
          </a:prstGeom>
          <a:ln w="14288">
            <a:solidFill>
              <a:srgbClr val="80a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forest-whisker-5-hi"/>
          <p:cNvSpPr/>
          <p:nvPr/>
        </p:nvSpPr>
        <p:spPr>
          <a:xfrm>
            <a:off x="9279720" y="4242600"/>
            <a:ext cx="360" cy="76320"/>
          </a:xfrm>
          <a:prstGeom prst="line">
            <a:avLst/>
          </a:prstGeom>
          <a:ln w="14288">
            <a:solidFill>
              <a:srgbClr val="80a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320" bIns="3132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forest-point-5"/>
          <p:cNvSpPr/>
          <p:nvPr/>
        </p:nvSpPr>
        <p:spPr>
          <a:xfrm>
            <a:off x="8519760" y="4233600"/>
            <a:ext cx="94680" cy="94680"/>
          </a:xfrm>
          <a:prstGeom prst="ellipse">
            <a:avLst/>
          </a:prstGeom>
          <a:solidFill>
            <a:srgbClr val="80aeff"/>
          </a:solidFill>
          <a:ln w="7144">
            <a:solidFill>
              <a:srgbClr val="21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forest-estimate-5"/>
          <p:cNvSpPr/>
          <p:nvPr/>
        </p:nvSpPr>
        <p:spPr>
          <a:xfrm>
            <a:off x="10839600" y="4166640"/>
            <a:ext cx="551880" cy="2278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+1.61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activity-selection-caption"/>
          <p:cNvSpPr/>
          <p:nvPr/>
        </p:nvSpPr>
        <p:spPr>
          <a:xfrm>
            <a:off x="5048280" y="4843800"/>
            <a:ext cx="633348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860" strike="noStrike" u="none">
                <a:solidFill>
                  <a:srgbClr val="686868"/>
                </a:solidFill>
                <a:effectLst/>
                <a:uFillTx/>
                <a:latin typeface="Source Sans 3"/>
                <a:ea typeface="Source Sans 3"/>
              </a:rPr>
              <a:t>Five largest of eight FDR-significant associations; 16 repeatable activity types were tested overall.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activity-warning"/>
          <p:cNvSpPr/>
          <p:nvPr/>
        </p:nvSpPr>
        <p:spPr>
          <a:xfrm>
            <a:off x="822960" y="5244120"/>
            <a:ext cx="10749240" cy="551880"/>
          </a:xfrm>
          <a:prstGeom prst="rect">
            <a:avLst/>
          </a:prstGeom>
          <a:solidFill>
            <a:srgbClr val="ffeff9"/>
          </a:solidFill>
          <a:ln w="11906">
            <a:solidFill>
              <a:srgbClr val="f7bd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95400" bIns="9540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101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Do not interpret event coefficients as independent or causal effects. Each activity was modeled separately, occurred during the weight-outcome window, and may reflect care intensity or reverse causation.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activity-model-note"/>
          <p:cNvSpPr/>
          <p:nvPr/>
        </p:nvSpPr>
        <p:spPr>
          <a:xfrm>
            <a:off x="822960" y="5863320"/>
            <a:ext cx="10749240" cy="32328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860" strike="noStrike" u="none">
                <a:solidFill>
                  <a:srgbClr val="686868"/>
                </a:solidFill>
                <a:effectLst/>
                <a:uFillTx/>
                <a:latin typeface="Source Sans 3"/>
                <a:ea typeface="Source Sans 3"/>
              </a:rPr>
              <a:t>Effect = percentage points per 1-SD increase in log1p event count · adjusted for baseline weight, member type, follow-up days and days² · HC3 95% CI · Benjamini–Hochberg correction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822960" y="511920"/>
            <a:ext cx="126720" cy="126720"/>
          </a:xfrm>
          <a:prstGeom prst="rect">
            <a:avLst/>
          </a:prstGeom>
          <a:solidFill>
            <a:srgbClr val="80a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1033560" y="48420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3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Model · Exploratory Post-Selection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3"/>
          <p:cNvSpPr/>
          <p:nvPr/>
        </p:nvSpPr>
        <p:spPr>
          <a:xfrm>
            <a:off x="822960" y="768240"/>
            <a:ext cx="10514160" cy="1116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88" name="TextBox 4"/>
          <p:cNvSpPr/>
          <p:nvPr/>
        </p:nvSpPr>
        <p:spPr>
          <a:xfrm>
            <a:off x="822960" y="868680"/>
            <a:ext cx="10834560" cy="5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400" strike="noStrike" u="none">
                <a:solidFill>
                  <a:srgbClr val="212121"/>
                </a:solidFill>
                <a:effectLst/>
                <a:uFillTx/>
                <a:latin typeface="Source Serif 4 Light"/>
                <a:ea typeface="Source Serif 4 Light"/>
              </a:rPr>
              <a:t>The exploratory post-selection model accounts for 31% of observed variation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7"/>
          <p:cNvSpPr/>
          <p:nvPr/>
        </p:nvSpPr>
        <p:spPr>
          <a:xfrm>
            <a:off x="3582000" y="6510600"/>
            <a:ext cx="8228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8"/>
          <p:cNvSpPr/>
          <p:nvPr/>
        </p:nvSpPr>
        <p:spPr>
          <a:xfrm>
            <a:off x="11354400" y="2858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1" name="Table 160"/>
          <p:cNvGraphicFramePr/>
          <p:nvPr/>
        </p:nvGraphicFramePr>
        <p:xfrm>
          <a:off x="1428840" y="1809720"/>
          <a:ext cx="9333720" cy="2095200"/>
        </p:xfrm>
        <a:graphic>
          <a:graphicData uri="http://schemas.openxmlformats.org/drawingml/2006/table">
            <a:tbl>
              <a:tblPr/>
              <a:tblGrid>
                <a:gridCol w="4083840"/>
                <a:gridCol w="1666800"/>
                <a:gridCol w="2500200"/>
                <a:gridCol w="1083240"/>
              </a:tblGrid>
              <a:tr h="52380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3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 Semibold"/>
                          <a:ea typeface="Source Sans 3 Semibold"/>
                        </a:rPr>
                        <a:t>Term</a:t>
                      </a:r>
                      <a:endParaRPr b="0" lang="en-US" sz="113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abd4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13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 Semibold"/>
                          <a:ea typeface="Source Sans 3 Semibold"/>
                        </a:rPr>
                        <a:t>Estimate</a:t>
                      </a:r>
                      <a:endParaRPr b="0" lang="en-US" sz="113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abd4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13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 Semibold"/>
                          <a:ea typeface="Source Sans 3 Semibold"/>
                        </a:rPr>
                        <a:t>95% CI (HC3)</a:t>
                      </a:r>
                      <a:endParaRPr b="0" lang="en-US" sz="113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abd4ff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13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 Semibold"/>
                          <a:ea typeface="Source Sans 3 Semibold"/>
                        </a:rPr>
                        <a:t>p</a:t>
                      </a:r>
                      <a:endParaRPr b="0" lang="en-US" sz="113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abd4ff"/>
                    </a:solidFill>
                  </a:tcPr>
                </a:tc>
              </a:tr>
              <a:tr h="52380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GLP‑1 vs Coaching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+3.43 pp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[+1.88, +4.99]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&lt; .001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52380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Repeatable engagement (per 25 events)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+1.01 pp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[+0.62, +1.39]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&lt; .001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1e9"/>
                    </a:solidFill>
                  </a:tcPr>
                </a:tc>
              </a:tr>
              <a:tr h="523800">
                <a:tc>
                  <a:txBody>
                    <a:bodyPr lIns="85680" rIns="856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Baseline weight (per 10 lb)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+0.15 pp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[+0.07, +0.23]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5680" rIns="856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Source Sans 3"/>
                          <a:ea typeface="Source Sans 3"/>
                        </a:rPr>
                        <a:t>&lt; .001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5680" marR="856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</a:tbl>
          </a:graphicData>
        </a:graphic>
      </p:graphicFrame>
      <p:sp>
        <p:nvSpPr>
          <p:cNvPr id="192" name="model-fit-summary"/>
          <p:cNvSpPr/>
          <p:nvPr/>
        </p:nvSpPr>
        <p:spPr>
          <a:xfrm>
            <a:off x="1428840" y="4057560"/>
            <a:ext cx="9333720" cy="456480"/>
          </a:xfrm>
          <a:prstGeom prst="rect">
            <a:avLst/>
          </a:prstGeom>
          <a:solidFill>
            <a:srgbClr val="abd4ff"/>
          </a:solidFill>
          <a:ln w="11906">
            <a:solidFill>
              <a:srgbClr val="80a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95400" bIns="9540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101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Fit (n=534)  ·  R²=.314  |  adjusted R²=.310  |  RMSE=5.46 pp  |  −2LL=3328.96  |  AIC=3336.96  |  BIC=3354.08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duration-sensitivity"/>
          <p:cNvSpPr/>
          <p:nvPr/>
        </p:nvSpPr>
        <p:spPr>
          <a:xfrm>
            <a:off x="1428840" y="4629240"/>
            <a:ext cx="9333720" cy="551880"/>
          </a:xfrm>
          <a:prstGeom prst="rect">
            <a:avLst/>
          </a:prstGeom>
          <a:solidFill>
            <a:srgbClr val="fff3c7"/>
          </a:solidFill>
          <a:ln w="11906">
            <a:solidFill>
              <a:srgbClr val="ffbd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95400" bIns="9540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Duration sensitivity (common support, n=496): GLP‑1 +3.30 pp [1.73, 4.86]; engagement +1.20 pp per 25 events [0.76, 1.63]; duration terms p=.171/.283.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influence-warning"/>
          <p:cNvSpPr/>
          <p:nvPr/>
        </p:nvSpPr>
        <p:spPr>
          <a:xfrm>
            <a:off x="1428840" y="5276880"/>
            <a:ext cx="9333720" cy="608760"/>
          </a:xfrm>
          <a:prstGeom prst="rect">
            <a:avLst/>
          </a:prstGeom>
          <a:solidFill>
            <a:srgbClr val="ffeff9"/>
          </a:solidFill>
          <a:ln w="11906">
            <a:solidFill>
              <a:srgbClr val="f7bd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95400" bIns="9540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98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Conditional post-selection, observational inference. Influence screening flagged cases for review (max Cook’s D=.039; leverage=.062; |standardized residual|=4.12). No influence-deletion refit or coefficient bootstrap is available.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ost-selection-note"/>
          <p:cNvSpPr/>
          <p:nvPr/>
        </p:nvSpPr>
        <p:spPr>
          <a:xfrm>
            <a:off x="1428840" y="5943600"/>
            <a:ext cx="9333720" cy="266040"/>
          </a:xfrm>
          <a:prstGeom prst="rect">
            <a:avLst/>
          </a:prstGeom>
          <a:noFill/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0" lang="en-US" sz="860" strike="noStrike" u="none">
                <a:solidFill>
                  <a:srgbClr val="686868"/>
                </a:solidFill>
                <a:effectLst/>
                <a:uFillTx/>
                <a:latin typeface="Source Sans 3"/>
                <a:ea typeface="Source Sans 3"/>
              </a:rPr>
              <a:t>HC3 robust SEs · −2LL/AIC/BIC are descriptive within this percentage-loss model · baseline weight is adjustment, not a causal lever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unrise-footer-spectrum"/>
          <p:cNvSpPr/>
          <p:nvPr/>
        </p:nvSpPr>
        <p:spPr>
          <a:xfrm>
            <a:off x="0" y="6327720"/>
            <a:ext cx="12190320" cy="117360"/>
          </a:xfrm>
          <a:prstGeom prst="rect">
            <a:avLst/>
          </a:prstGeom>
          <a:gradFill rotWithShape="0">
            <a:gsLst>
              <a:gs pos="0">
                <a:srgbClr val="ffbd70"/>
              </a:gs>
              <a:gs pos="50000">
                <a:srgbClr val="f7bde6"/>
              </a:gs>
              <a:gs pos="100000">
                <a:srgbClr val="80aeff"/>
              </a:gs>
            </a:gsLst>
            <a:lin ang="5400000"/>
          </a:gradFill>
          <a:ln w="0">
            <a:solidFill>
              <a:srgbClr val="fffcf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7" name="Picture 14" descr=""/>
          <p:cNvPicPr/>
          <p:nvPr/>
        </p:nvPicPr>
        <p:blipFill>
          <a:blip r:embed="rId1"/>
          <a:stretch/>
        </p:blipFill>
        <p:spPr>
          <a:xfrm>
            <a:off x="0" y="6327720"/>
            <a:ext cx="12190320" cy="11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"/>
          <p:cNvSpPr/>
          <p:nvPr/>
        </p:nvSpPr>
        <p:spPr>
          <a:xfrm>
            <a:off x="822960" y="511920"/>
            <a:ext cx="126720" cy="126720"/>
          </a:xfrm>
          <a:prstGeom prst="rect">
            <a:avLst/>
          </a:prstGeom>
          <a:solidFill>
            <a:srgbClr val="ffbd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99" name="TextBox 2"/>
          <p:cNvSpPr/>
          <p:nvPr/>
        </p:nvSpPr>
        <p:spPr>
          <a:xfrm>
            <a:off x="1033560" y="48420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3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Recommendations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3"/>
          <p:cNvSpPr/>
          <p:nvPr/>
        </p:nvSpPr>
        <p:spPr>
          <a:xfrm>
            <a:off x="822960" y="768240"/>
            <a:ext cx="10514160" cy="1116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01" name="TextBox 4"/>
          <p:cNvSpPr/>
          <p:nvPr/>
        </p:nvSpPr>
        <p:spPr>
          <a:xfrm>
            <a:off x="822960" y="868680"/>
            <a:ext cx="105141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550" strike="noStrike" u="none">
                <a:solidFill>
                  <a:srgbClr val="212121"/>
                </a:solidFill>
                <a:effectLst/>
                <a:uFillTx/>
                <a:latin typeface="Source Serif 4 Light"/>
                <a:ea typeface="Source Serif 4 Light"/>
              </a:rPr>
              <a:t>Convert the engagement signal into a 12-week randomized pilot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5"/>
          <p:cNvSpPr/>
          <p:nvPr/>
        </p:nvSpPr>
        <p:spPr>
          <a:xfrm>
            <a:off x="822960" y="1691640"/>
            <a:ext cx="3519000" cy="4296240"/>
          </a:xfrm>
          <a:prstGeom prst="roundRect">
            <a:avLst>
              <a:gd name="adj" fmla="val 5000"/>
            </a:avLst>
          </a:prstGeom>
          <a:solidFill>
            <a:srgbClr val="abd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03" name="TextBox 6"/>
          <p:cNvSpPr/>
          <p:nvPr/>
        </p:nvSpPr>
        <p:spPr>
          <a:xfrm>
            <a:off x="1097280" y="1965960"/>
            <a:ext cx="30160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7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Who + intervention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7"/>
          <p:cNvSpPr/>
          <p:nvPr/>
        </p:nvSpPr>
        <p:spPr>
          <a:xfrm>
            <a:off x="1097280" y="2697480"/>
            <a:ext cx="3016080" cy="31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PROPOSED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New eligible members in Coaching Only or GLP‑1 weight-loss care.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Consider changing outcome variables to account for muscle growth. 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8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Test proactive engagement support during days 0–14 versus current support.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8"/>
          <p:cNvSpPr/>
          <p:nvPr/>
        </p:nvSpPr>
        <p:spPr>
          <a:xfrm>
            <a:off x="4572000" y="1691640"/>
            <a:ext cx="3519000" cy="4296240"/>
          </a:xfrm>
          <a:prstGeom prst="roundRect">
            <a:avLst>
              <a:gd name="adj" fmla="val 5000"/>
            </a:avLst>
          </a:prstGeom>
          <a:solidFill>
            <a:srgbClr val="fff3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06" name="TextBox 9"/>
          <p:cNvSpPr/>
          <p:nvPr/>
        </p:nvSpPr>
        <p:spPr>
          <a:xfrm>
            <a:off x="4846320" y="1965960"/>
            <a:ext cx="30160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7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Owner + endpoints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4846320" y="2697480"/>
            <a:ext cx="3016080" cy="31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4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Owner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4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Product + Clinical Operations deliver; Biostatistics owns randomization and analysis.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4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Primary endpoint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4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Percentage weight loss at day 84 ±7.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4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Secondary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4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≥5% response, engagement uptake, and 12-week weight ascertainment.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11"/>
          <p:cNvSpPr/>
          <p:nvPr/>
        </p:nvSpPr>
        <p:spPr>
          <a:xfrm>
            <a:off x="8321040" y="1691640"/>
            <a:ext cx="3519000" cy="4296240"/>
          </a:xfrm>
          <a:prstGeom prst="roundRect">
            <a:avLst>
              <a:gd name="adj" fmla="val 5000"/>
            </a:avLst>
          </a:prstGeom>
          <a:solidFill>
            <a:srgbClr val="fbde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09" name="TextBox 12"/>
          <p:cNvSpPr/>
          <p:nvPr/>
        </p:nvSpPr>
        <p:spPr>
          <a:xfrm>
            <a:off x="8595360" y="1965960"/>
            <a:ext cx="30160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70" strike="noStrike" u="none">
                <a:solidFill>
                  <a:srgbClr val="212121"/>
                </a:solidFill>
                <a:effectLst/>
                <a:uFillTx/>
                <a:latin typeface="Source Sans 3 Semibold"/>
                <a:ea typeface="Source Sans 3 Semibold"/>
              </a:rPr>
              <a:t>Size + go/no-go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3"/>
          <p:cNvSpPr/>
          <p:nvPr/>
        </p:nvSpPr>
        <p:spPr>
          <a:xfrm>
            <a:off x="8595360" y="2697480"/>
            <a:ext cx="3016080" cy="34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7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Provisional sample-size target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7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~324 randomized (162/arm): detect a proposed 2.0-pp difference with 80% power, α=.05, σ=5.46 pp, inflated for 26.8% non-evaluation.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7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Go/no-go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7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GO only if adjusted difference ≥2.0 pp and the 95% CI excludes 0; otherwise stop or redesign.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7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Thresholds are proposed decision criteria—not a validated minimum clinically important difference.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Picture 14" descr=""/>
          <p:cNvPicPr/>
          <p:nvPr/>
        </p:nvPicPr>
        <p:blipFill>
          <a:blip r:embed="rId1"/>
          <a:stretch/>
        </p:blipFill>
        <p:spPr>
          <a:xfrm>
            <a:off x="0" y="6327720"/>
            <a:ext cx="12190320" cy="11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Box 15"/>
          <p:cNvSpPr/>
          <p:nvPr/>
        </p:nvSpPr>
        <p:spPr>
          <a:xfrm>
            <a:off x="3582000" y="6510600"/>
            <a:ext cx="8228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6"/>
          <p:cNvSpPr/>
          <p:nvPr/>
        </p:nvSpPr>
        <p:spPr>
          <a:xfrm>
            <a:off x="11354400" y="28584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Source Sans 3"/>
                <a:ea typeface="Source Sans 3"/>
              </a:rPr>
              <a:t>7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</TotalTime>
  <Application>LibreOffice/25.2.3.2$Linux_X86_64 LibreOffice_project/520$Build-2</Application>
  <AppVersion>15.0000</AppVersion>
  <Words>2164</Words>
  <Paragraphs>247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2026-09-01T17:56:06Z</dcterms:created>
  <dc:creator>Walnut Exporter</dc:creator>
  <dc:description/>
  <dc:language>en-US</dc:language>
  <cp:lastModifiedBy/>
  <dcterms:modified xsi:type="dcterms:W3CDTF">2026-09-02T11:46:08Z</dcterms:modified>
  <cp:revision>7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