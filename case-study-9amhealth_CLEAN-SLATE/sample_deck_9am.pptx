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EAF28E3-9307-4314-BFD1-33D48C99819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1B30F01-7190-4F28-9103-F115DFFD408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C867FC8-614E-4972-85F0-655074E5AEF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0AE44A5-CF2A-4A3A-A513-E0347282647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A17363E-5BF4-4A7B-8157-08782C1024F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A46DD61-86B4-41FB-995F-91F6FE1EDA3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D673902-72DF-46AF-938A-F1D2DFC1B4D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B39C8FE-3FCD-4A29-BDA2-B20A632841D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D293350-EB39-4F29-81D2-56F500D448F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A097F9A-E237-44FC-ABA2-49512B83975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AC42022-FE96-4FE8-B322-5DA174B2A71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c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1" descr="title_sunrise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Box 2"/>
          <p:cNvSpPr/>
          <p:nvPr/>
        </p:nvSpPr>
        <p:spPr>
          <a:xfrm>
            <a:off x="822960" y="1554480"/>
            <a:ext cx="1051488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3600" strike="noStrike" u="none">
                <a:solidFill>
                  <a:srgbClr val="212121"/>
                </a:solidFill>
                <a:effectLst/>
                <a:uFillTx/>
                <a:latin typeface="Fraunces"/>
              </a:rPr>
              <a:t>What drives clinical weight improvement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3600" strike="noStrike" u="none">
                <a:solidFill>
                  <a:srgbClr val="212121"/>
                </a:solidFill>
                <a:effectLst/>
                <a:uFillTx/>
                <a:latin typeface="Fraunces"/>
              </a:rPr>
              <a:t>among 9amHealth members?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3"/>
          <p:cNvSpPr/>
          <p:nvPr/>
        </p:nvSpPr>
        <p:spPr>
          <a:xfrm>
            <a:off x="822960" y="3246120"/>
            <a:ext cx="105148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19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Mostly medication + starting weight + time in program.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19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Engagement &amp; education add a real, smaller, modifiable boost.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4"/>
          <p:cNvSpPr/>
          <p:nvPr/>
        </p:nvSpPr>
        <p:spPr>
          <a:xfrm>
            <a:off x="822960" y="5989320"/>
            <a:ext cx="1051488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Luis M. Rangel Jr. 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c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1"/>
          <p:cNvSpPr/>
          <p:nvPr/>
        </p:nvSpPr>
        <p:spPr>
          <a:xfrm>
            <a:off x="822960" y="511920"/>
            <a:ext cx="127440" cy="127440"/>
          </a:xfrm>
          <a:prstGeom prst="rect">
            <a:avLst/>
          </a:prstGeom>
          <a:solidFill>
            <a:srgbClr val="80a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1042560" y="429840"/>
            <a:ext cx="9143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11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APPROACH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3"/>
          <p:cNvSpPr/>
          <p:nvPr/>
        </p:nvSpPr>
        <p:spPr>
          <a:xfrm>
            <a:off x="822960" y="768240"/>
            <a:ext cx="10514880" cy="11880"/>
          </a:xfrm>
          <a:prstGeom prst="rect">
            <a:avLst/>
          </a:prstGeom>
          <a:solidFill>
            <a:srgbClr val="2121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4"/>
          <p:cNvSpPr/>
          <p:nvPr/>
        </p:nvSpPr>
        <p:spPr>
          <a:xfrm>
            <a:off x="822960" y="868680"/>
            <a:ext cx="1083528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2600" strike="noStrike" u="none">
                <a:solidFill>
                  <a:srgbClr val="212121"/>
                </a:solidFill>
                <a:effectLst/>
                <a:uFillTx/>
                <a:latin typeface="Fraunces"/>
              </a:rPr>
              <a:t>Analytical approach: locked population, clinical outcome, two lenses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5"/>
          <p:cNvSpPr/>
          <p:nvPr/>
        </p:nvSpPr>
        <p:spPr>
          <a:xfrm>
            <a:off x="822960" y="1475640"/>
            <a:ext cx="6308640" cy="341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14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Sub-questions / hypotheses: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H1  Heavier at baseline → larger loss (regression to the mean)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H2  Medication (GLP-1) drives more loss than coaching alone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H3  Engagement (logging volume) adds benefit on top of medication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H4  Module completion adds independent benefit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H5  Demographics (sex) relate to weight loss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H6  Engagement pays off differently by drug class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Outcome = % weight change · success = ≥5% loss (clinical bar).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Method = baseline-adjusted regression + LASSO (parsimony) + HC3 inference.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Full cohort description: Table 1 (appendix).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8" name="Table 6"/>
          <p:cNvGraphicFramePr/>
          <p:nvPr/>
        </p:nvGraphicFramePr>
        <p:xfrm>
          <a:off x="7442640" y="1795680"/>
          <a:ext cx="4023000" cy="2011680"/>
        </p:xfrm>
        <a:graphic>
          <a:graphicData uri="http://schemas.openxmlformats.org/drawingml/2006/table">
            <a:tbl>
              <a:tblPr/>
              <a:tblGrid>
                <a:gridCol w="3063600"/>
                <a:gridCol w="459360"/>
                <a:gridCol w="500400"/>
              </a:tblGrid>
              <a:tr h="50292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Step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N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Excl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  <a:tr h="502920"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Enrolled universe (demographics)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865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—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  <a:tr h="502920"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Has BW outcome (first + last)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827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38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  <a:tr h="502920"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Eligible status (active / finished)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825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2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</a:tbl>
          </a:graphicData>
        </a:graphic>
      </p:graphicFrame>
      <p:pic>
        <p:nvPicPr>
          <p:cNvPr id="69" name="Picture 8" descr="strip_sunrise.png"/>
          <p:cNvPicPr/>
          <p:nvPr/>
        </p:nvPicPr>
        <p:blipFill>
          <a:blip r:embed="rId1"/>
          <a:stretch/>
        </p:blipFill>
        <p:spPr>
          <a:xfrm>
            <a:off x="0" y="6327720"/>
            <a:ext cx="12191040" cy="11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extBox 9"/>
          <p:cNvSpPr/>
          <p:nvPr/>
        </p:nvSpPr>
        <p:spPr>
          <a:xfrm>
            <a:off x="822960" y="65106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9amHealth · Data Analyst Case Study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0"/>
          <p:cNvSpPr/>
          <p:nvPr/>
        </p:nvSpPr>
        <p:spPr>
          <a:xfrm>
            <a:off x="11521440" y="651060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c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/>
          <p:nvPr/>
        </p:nvSpPr>
        <p:spPr>
          <a:xfrm>
            <a:off x="822960" y="511920"/>
            <a:ext cx="127440" cy="127440"/>
          </a:xfrm>
          <a:prstGeom prst="rect">
            <a:avLst/>
          </a:prstGeom>
          <a:solidFill>
            <a:srgbClr val="f7bd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1042560" y="429840"/>
            <a:ext cx="9143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11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FINDINGS · WEIGHT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3"/>
          <p:cNvSpPr/>
          <p:nvPr/>
        </p:nvSpPr>
        <p:spPr>
          <a:xfrm>
            <a:off x="822960" y="768240"/>
            <a:ext cx="10514880" cy="11880"/>
          </a:xfrm>
          <a:prstGeom prst="rect">
            <a:avLst/>
          </a:prstGeom>
          <a:solidFill>
            <a:srgbClr val="2121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4"/>
          <p:cNvSpPr/>
          <p:nvPr/>
        </p:nvSpPr>
        <p:spPr>
          <a:xfrm>
            <a:off x="822960" y="868680"/>
            <a:ext cx="10514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2600" strike="noStrike" u="none">
                <a:solidFill>
                  <a:srgbClr val="212121"/>
                </a:solidFill>
                <a:effectLst/>
                <a:uFillTx/>
                <a:latin typeface="Fraunces"/>
              </a:rPr>
              <a:t>Meaningful weight loss is concentrated in GLP-1 members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5"/>
          <p:cNvSpPr/>
          <p:nvPr/>
        </p:nvSpPr>
        <p:spPr>
          <a:xfrm>
            <a:off x="822960" y="1783080"/>
            <a:ext cx="356544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Weight-change patterns: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• Overall median 1.3% loss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• 31% hit ≥5% (254 / 825)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≥5% responders by drug class: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• Coaching 5.3%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• Generic 30.2%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• GLP-1 (All) 61.9%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Coaching-only median = 0.0%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Picture 6" descr="pct_distribution_by_drug.png"/>
          <p:cNvPicPr/>
          <p:nvPr/>
        </p:nvPicPr>
        <p:blipFill>
          <a:blip r:embed="rId1"/>
          <a:stretch/>
        </p:blipFill>
        <p:spPr>
          <a:xfrm>
            <a:off x="4693680" y="1828800"/>
            <a:ext cx="7040160" cy="395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Picture 7" descr="strip_sunrise.png"/>
          <p:cNvPicPr/>
          <p:nvPr/>
        </p:nvPicPr>
        <p:blipFill>
          <a:blip r:embed="rId2"/>
          <a:stretch/>
        </p:blipFill>
        <p:spPr>
          <a:xfrm>
            <a:off x="0" y="6327720"/>
            <a:ext cx="12191040" cy="11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extBox 8"/>
          <p:cNvSpPr/>
          <p:nvPr/>
        </p:nvSpPr>
        <p:spPr>
          <a:xfrm>
            <a:off x="822960" y="65106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9amHealth · Data Analyst Case Study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9"/>
          <p:cNvSpPr/>
          <p:nvPr/>
        </p:nvSpPr>
        <p:spPr>
          <a:xfrm>
            <a:off x="11521440" y="651060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c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822960" y="511920"/>
            <a:ext cx="127440" cy="127440"/>
          </a:xfrm>
          <a:prstGeom prst="rect">
            <a:avLst/>
          </a:prstGeom>
          <a:solidFill>
            <a:srgbClr val="ffbd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1042560" y="429840"/>
            <a:ext cx="9143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11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FINDINGS · ENGAGEMENT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3"/>
          <p:cNvSpPr/>
          <p:nvPr/>
        </p:nvSpPr>
        <p:spPr>
          <a:xfrm>
            <a:off x="822960" y="768240"/>
            <a:ext cx="10514880" cy="11880"/>
          </a:xfrm>
          <a:prstGeom prst="rect">
            <a:avLst/>
          </a:prstGeom>
          <a:solidFill>
            <a:srgbClr val="2121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822960" y="868680"/>
            <a:ext cx="10514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2600" strike="noStrike" u="none">
                <a:solidFill>
                  <a:srgbClr val="212121"/>
                </a:solidFill>
                <a:effectLst/>
                <a:uFillTx/>
                <a:latin typeface="Fraunces"/>
              </a:rPr>
              <a:t>Engagement isn't uniform — it tracks the medicated population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5"/>
          <p:cNvSpPr/>
          <p:nvPr/>
        </p:nvSpPr>
        <p:spPr>
          <a:xfrm>
            <a:off x="822960" y="1783080"/>
            <a:ext cx="356544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Engagement patterns: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• 825 / 825 have engagement data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Median volume_rep: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• 7 → 50 → 103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  (Coaching → Generic → GLP-1)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• mod.mean: 0.31 → 0.90 → 2.70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Rises in the same order as the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responder rate — so how much of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it is real? (next slide)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Picture 6" descr="engage_response_comove.png"/>
          <p:cNvPicPr/>
          <p:nvPr/>
        </p:nvPicPr>
        <p:blipFill>
          <a:blip r:embed="rId1"/>
          <a:stretch/>
        </p:blipFill>
        <p:spPr>
          <a:xfrm>
            <a:off x="4693680" y="1828800"/>
            <a:ext cx="7040160" cy="395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Picture 7" descr="strip_sunrise.png"/>
          <p:cNvPicPr/>
          <p:nvPr/>
        </p:nvPicPr>
        <p:blipFill>
          <a:blip r:embed="rId2"/>
          <a:stretch/>
        </p:blipFill>
        <p:spPr>
          <a:xfrm>
            <a:off x="0" y="6327720"/>
            <a:ext cx="12191040" cy="11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Box 8"/>
          <p:cNvSpPr/>
          <p:nvPr/>
        </p:nvSpPr>
        <p:spPr>
          <a:xfrm>
            <a:off x="822960" y="65106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9amHealth · Data Analyst Case Study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9"/>
          <p:cNvSpPr/>
          <p:nvPr/>
        </p:nvSpPr>
        <p:spPr>
          <a:xfrm>
            <a:off x="11521440" y="651060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4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c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"/>
          <p:cNvSpPr/>
          <p:nvPr/>
        </p:nvSpPr>
        <p:spPr>
          <a:xfrm>
            <a:off x="822960" y="511920"/>
            <a:ext cx="127440" cy="127440"/>
          </a:xfrm>
          <a:prstGeom prst="rect">
            <a:avLst/>
          </a:prstGeom>
          <a:solidFill>
            <a:srgbClr val="80a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1042560" y="429840"/>
            <a:ext cx="9143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11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FINDINGS · DRIVERS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3"/>
          <p:cNvSpPr/>
          <p:nvPr/>
        </p:nvSpPr>
        <p:spPr>
          <a:xfrm>
            <a:off x="822960" y="768240"/>
            <a:ext cx="10514880" cy="11880"/>
          </a:xfrm>
          <a:prstGeom prst="rect">
            <a:avLst/>
          </a:prstGeom>
          <a:solidFill>
            <a:srgbClr val="2121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4"/>
          <p:cNvSpPr/>
          <p:nvPr/>
        </p:nvSpPr>
        <p:spPr>
          <a:xfrm>
            <a:off x="822960" y="868680"/>
            <a:ext cx="10514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2600" strike="noStrike" u="none">
                <a:solidFill>
                  <a:srgbClr val="212121"/>
                </a:solidFill>
                <a:effectLst/>
                <a:uFillTx/>
                <a:latin typeface="Fraunces"/>
              </a:rPr>
              <a:t>Engagement: ~half confounded, ~half a real, modifiable lever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5"/>
          <p:cNvSpPr/>
          <p:nvPr/>
        </p:nvSpPr>
        <p:spPr>
          <a:xfrm>
            <a:off x="822960" y="1783080"/>
            <a:ext cx="356544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Drivers (confound-adjusted):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Dominant (R² = 0.35): GLP-1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+3.0 pts, baseline, exposure.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Engagement: naive +0.068 →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adjusted +0.038 / event,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HC3 p &lt; 1e-5.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~45% confounding, ~55% real.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Education adds: mod.mean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p = .009, breadth p = .011.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LASSO 'saw nothing' = predictive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parsimony, not inference.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Picture 6" descr="driver_forest.png"/>
          <p:cNvPicPr/>
          <p:nvPr/>
        </p:nvPicPr>
        <p:blipFill>
          <a:blip r:embed="rId1"/>
          <a:stretch/>
        </p:blipFill>
        <p:spPr>
          <a:xfrm>
            <a:off x="4693680" y="1828800"/>
            <a:ext cx="7040160" cy="351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Picture 7" descr="strip_sunrise.png"/>
          <p:cNvPicPr/>
          <p:nvPr/>
        </p:nvPicPr>
        <p:blipFill>
          <a:blip r:embed="rId2"/>
          <a:stretch/>
        </p:blipFill>
        <p:spPr>
          <a:xfrm>
            <a:off x="0" y="6327720"/>
            <a:ext cx="12191040" cy="11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TextBox 8"/>
          <p:cNvSpPr/>
          <p:nvPr/>
        </p:nvSpPr>
        <p:spPr>
          <a:xfrm>
            <a:off x="822960" y="65106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9amHealth · Data Analyst Case Study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9"/>
          <p:cNvSpPr/>
          <p:nvPr/>
        </p:nvSpPr>
        <p:spPr>
          <a:xfrm>
            <a:off x="11521440" y="651060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5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c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1"/>
          <p:cNvSpPr/>
          <p:nvPr/>
        </p:nvSpPr>
        <p:spPr>
          <a:xfrm>
            <a:off x="822960" y="511920"/>
            <a:ext cx="127440" cy="127440"/>
          </a:xfrm>
          <a:prstGeom prst="rect">
            <a:avLst/>
          </a:prstGeom>
          <a:solidFill>
            <a:srgbClr val="f7bd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2"/>
          <p:cNvSpPr/>
          <p:nvPr/>
        </p:nvSpPr>
        <p:spPr>
          <a:xfrm>
            <a:off x="1042560" y="429840"/>
            <a:ext cx="9143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11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FINDINGS · SCORECARD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ectangle 3"/>
          <p:cNvSpPr/>
          <p:nvPr/>
        </p:nvSpPr>
        <p:spPr>
          <a:xfrm>
            <a:off x="822960" y="768240"/>
            <a:ext cx="10514880" cy="11880"/>
          </a:xfrm>
          <a:prstGeom prst="rect">
            <a:avLst/>
          </a:prstGeom>
          <a:solidFill>
            <a:srgbClr val="2121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4"/>
          <p:cNvSpPr/>
          <p:nvPr/>
        </p:nvSpPr>
        <p:spPr>
          <a:xfrm>
            <a:off x="822960" y="868680"/>
            <a:ext cx="10514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2600" strike="noStrike" u="none">
                <a:solidFill>
                  <a:srgbClr val="212121"/>
                </a:solidFill>
                <a:effectLst/>
                <a:uFillTx/>
                <a:latin typeface="Fraunces"/>
              </a:rPr>
              <a:t>Which questions the analysis answers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Picture 5" descr="hypothesis_scorecard.png"/>
          <p:cNvPicPr/>
          <p:nvPr/>
        </p:nvPicPr>
        <p:blipFill>
          <a:blip r:embed="rId1"/>
          <a:stretch/>
        </p:blipFill>
        <p:spPr>
          <a:xfrm>
            <a:off x="1828800" y="1691640"/>
            <a:ext cx="8594640" cy="455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Picture 6" descr="strip_sunrise.png"/>
          <p:cNvPicPr/>
          <p:nvPr/>
        </p:nvPicPr>
        <p:blipFill>
          <a:blip r:embed="rId2"/>
          <a:stretch/>
        </p:blipFill>
        <p:spPr>
          <a:xfrm>
            <a:off x="0" y="6327720"/>
            <a:ext cx="12191040" cy="11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Box 7"/>
          <p:cNvSpPr/>
          <p:nvPr/>
        </p:nvSpPr>
        <p:spPr>
          <a:xfrm>
            <a:off x="822960" y="65106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9amHealth · Data Analyst Case Study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8"/>
          <p:cNvSpPr/>
          <p:nvPr/>
        </p:nvSpPr>
        <p:spPr>
          <a:xfrm>
            <a:off x="11521440" y="651060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c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"/>
          <p:cNvSpPr/>
          <p:nvPr/>
        </p:nvSpPr>
        <p:spPr>
          <a:xfrm>
            <a:off x="822960" y="511920"/>
            <a:ext cx="127440" cy="127440"/>
          </a:xfrm>
          <a:prstGeom prst="rect">
            <a:avLst/>
          </a:prstGeom>
          <a:solidFill>
            <a:srgbClr val="ffbd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1042560" y="429840"/>
            <a:ext cx="9143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11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RECOMMENDATIONS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3"/>
          <p:cNvSpPr/>
          <p:nvPr/>
        </p:nvSpPr>
        <p:spPr>
          <a:xfrm>
            <a:off x="822960" y="768240"/>
            <a:ext cx="10514880" cy="11880"/>
          </a:xfrm>
          <a:prstGeom prst="rect">
            <a:avLst/>
          </a:prstGeom>
          <a:solidFill>
            <a:srgbClr val="2121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4"/>
          <p:cNvSpPr/>
          <p:nvPr/>
        </p:nvSpPr>
        <p:spPr>
          <a:xfrm>
            <a:off x="822960" y="868680"/>
            <a:ext cx="10514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3000" strike="noStrike" u="none">
                <a:solidFill>
                  <a:srgbClr val="212121"/>
                </a:solidFill>
                <a:effectLst/>
                <a:uFillTx/>
                <a:latin typeface="Fraunces"/>
              </a:rPr>
              <a:t>Recommendations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5"/>
          <p:cNvSpPr/>
          <p:nvPr/>
        </p:nvSpPr>
        <p:spPr>
          <a:xfrm>
            <a:off x="822960" y="1691640"/>
            <a:ext cx="3519720" cy="4296960"/>
          </a:xfrm>
          <a:prstGeom prst="roundRect">
            <a:avLst>
              <a:gd name="adj" fmla="val 5000"/>
            </a:avLst>
          </a:prstGeom>
          <a:solidFill>
            <a:srgbClr val="ffef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6"/>
          <p:cNvSpPr/>
          <p:nvPr/>
        </p:nvSpPr>
        <p:spPr>
          <a:xfrm>
            <a:off x="1097280" y="1965960"/>
            <a:ext cx="30168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2000" strike="noStrike" u="none">
                <a:solidFill>
                  <a:srgbClr val="212121"/>
                </a:solidFill>
                <a:effectLst/>
                <a:uFillTx/>
                <a:latin typeface="Fraunces"/>
              </a:rPr>
              <a:t>Clinical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7"/>
          <p:cNvSpPr/>
          <p:nvPr/>
        </p:nvSpPr>
        <p:spPr>
          <a:xfrm>
            <a:off x="1097280" y="2697480"/>
            <a:ext cx="3016800" cy="31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5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GLP-1 is the strongest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5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weight-loss lever.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5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Coaching-only shows little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5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change on the scale — but body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5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weight can miss body-composition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5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gains; measure both.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5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Prioritize medication access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5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&amp; titration.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ounded Rectangle 8"/>
          <p:cNvSpPr/>
          <p:nvPr/>
        </p:nvSpPr>
        <p:spPr>
          <a:xfrm>
            <a:off x="4572000" y="1691640"/>
            <a:ext cx="3519720" cy="4296960"/>
          </a:xfrm>
          <a:prstGeom prst="roundRect">
            <a:avLst>
              <a:gd name="adj" fmla="val 5000"/>
            </a:avLst>
          </a:prstGeom>
          <a:solidFill>
            <a:srgbClr val="fff3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9"/>
          <p:cNvSpPr/>
          <p:nvPr/>
        </p:nvSpPr>
        <p:spPr>
          <a:xfrm>
            <a:off x="4846320" y="1965960"/>
            <a:ext cx="30168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2000" strike="noStrike" u="none">
                <a:solidFill>
                  <a:srgbClr val="212121"/>
                </a:solidFill>
                <a:effectLst/>
                <a:uFillTx/>
                <a:latin typeface="Fraunces"/>
              </a:rPr>
              <a:t>Product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10"/>
          <p:cNvSpPr/>
          <p:nvPr/>
        </p:nvSpPr>
        <p:spPr>
          <a:xfrm>
            <a:off x="4846320" y="2697480"/>
            <a:ext cx="3016800" cy="31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5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Engagement (logging, breadth)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5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&amp; module completion are real,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5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modifiable secondary levers.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5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Invest in the highest-yield —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5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but it's observational; run a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5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causal test (RCT / matched)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5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before over-investing.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11"/>
          <p:cNvSpPr/>
          <p:nvPr/>
        </p:nvSpPr>
        <p:spPr>
          <a:xfrm>
            <a:off x="8321040" y="1691640"/>
            <a:ext cx="3519720" cy="4296960"/>
          </a:xfrm>
          <a:prstGeom prst="roundRect">
            <a:avLst>
              <a:gd name="adj" fmla="val 5000"/>
            </a:avLst>
          </a:prstGeom>
          <a:solidFill>
            <a:srgbClr val="ffde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12"/>
          <p:cNvSpPr/>
          <p:nvPr/>
        </p:nvSpPr>
        <p:spPr>
          <a:xfrm>
            <a:off x="8595360" y="1965960"/>
            <a:ext cx="30168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2000" strike="noStrike" u="none">
                <a:solidFill>
                  <a:srgbClr val="212121"/>
                </a:solidFill>
                <a:effectLst/>
                <a:uFillTx/>
                <a:latin typeface="Fraunces"/>
              </a:rPr>
              <a:t>Business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13"/>
          <p:cNvSpPr/>
          <p:nvPr/>
        </p:nvSpPr>
        <p:spPr>
          <a:xfrm>
            <a:off x="8595360" y="2697480"/>
            <a:ext cx="3016800" cy="31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5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Segment on drug class for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5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responder economics.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5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Forecast by medication mix,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5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with engagement / education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5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as incremental, controllable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5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upside.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Picture 14" descr="strip_sunrise.png"/>
          <p:cNvPicPr/>
          <p:nvPr/>
        </p:nvPicPr>
        <p:blipFill>
          <a:blip r:embed="rId1"/>
          <a:stretch/>
        </p:blipFill>
        <p:spPr>
          <a:xfrm>
            <a:off x="0" y="6327720"/>
            <a:ext cx="12191040" cy="11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TextBox 15"/>
          <p:cNvSpPr/>
          <p:nvPr/>
        </p:nvSpPr>
        <p:spPr>
          <a:xfrm>
            <a:off x="822960" y="65106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9amHealth · Data Analyst Case Study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16"/>
          <p:cNvSpPr/>
          <p:nvPr/>
        </p:nvSpPr>
        <p:spPr>
          <a:xfrm>
            <a:off x="11521440" y="651060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7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c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"/>
          <p:cNvSpPr/>
          <p:nvPr/>
        </p:nvSpPr>
        <p:spPr>
          <a:xfrm>
            <a:off x="822960" y="511920"/>
            <a:ext cx="127440" cy="127440"/>
          </a:xfrm>
          <a:prstGeom prst="rect">
            <a:avLst/>
          </a:prstGeom>
          <a:solidFill>
            <a:srgbClr val="f7bd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2"/>
          <p:cNvSpPr/>
          <p:nvPr/>
        </p:nvSpPr>
        <p:spPr>
          <a:xfrm>
            <a:off x="1042560" y="429840"/>
            <a:ext cx="9143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11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APPENDIX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angle 3"/>
          <p:cNvSpPr/>
          <p:nvPr/>
        </p:nvSpPr>
        <p:spPr>
          <a:xfrm>
            <a:off x="822960" y="768240"/>
            <a:ext cx="10514880" cy="11880"/>
          </a:xfrm>
          <a:prstGeom prst="rect">
            <a:avLst/>
          </a:prstGeom>
          <a:solidFill>
            <a:srgbClr val="2121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4"/>
          <p:cNvSpPr/>
          <p:nvPr/>
        </p:nvSpPr>
        <p:spPr>
          <a:xfrm>
            <a:off x="822960" y="868680"/>
            <a:ext cx="10514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2600" strike="noStrike" u="none">
                <a:solidFill>
                  <a:srgbClr val="212121"/>
                </a:solidFill>
                <a:effectLst/>
                <a:uFillTx/>
                <a:latin typeface="Fraunces"/>
              </a:rPr>
              <a:t>Methods &amp; Limitations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5"/>
          <p:cNvSpPr/>
          <p:nvPr/>
        </p:nvSpPr>
        <p:spPr>
          <a:xfrm>
            <a:off x="822960" y="1737360"/>
            <a:ext cx="1051488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• Cohort exclusions: 865 → 827 (has weight) → 825 (active / finished)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• No age column (briefing said it would exist) — key limitation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• ≥5% = clinically meaningful weight-loss threshold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• Outcome = % change (decouples baseline), HC3 robust SE (heteroskedastic)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• LASSO (prediction / parsimony) vs HC3 (inference) — why they disagree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• Multiplicity: Bonferroni α = 0.005 → only volume_rep unambiguous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• Observational — associations, not causal; engagement may proxy adherence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• Endpoint: body weight can't separate fat vs lean mass (coaching ~0 may be recomposition)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• Full cohort description in Table 1 (next slide)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Picture 6" descr="strip_afternoon.png"/>
          <p:cNvPicPr/>
          <p:nvPr/>
        </p:nvPicPr>
        <p:blipFill>
          <a:blip r:embed="rId1"/>
          <a:stretch/>
        </p:blipFill>
        <p:spPr>
          <a:xfrm>
            <a:off x="0" y="6327720"/>
            <a:ext cx="12191040" cy="11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TextBox 7"/>
          <p:cNvSpPr/>
          <p:nvPr/>
        </p:nvSpPr>
        <p:spPr>
          <a:xfrm>
            <a:off x="822960" y="65106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9amHealth · Data Analyst Case Study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8"/>
          <p:cNvSpPr/>
          <p:nvPr/>
        </p:nvSpPr>
        <p:spPr>
          <a:xfrm>
            <a:off x="11521440" y="651060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8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c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"/>
          <p:cNvSpPr/>
          <p:nvPr/>
        </p:nvSpPr>
        <p:spPr>
          <a:xfrm>
            <a:off x="822960" y="511920"/>
            <a:ext cx="127440" cy="127440"/>
          </a:xfrm>
          <a:prstGeom prst="rect">
            <a:avLst/>
          </a:prstGeom>
          <a:solidFill>
            <a:srgbClr val="80a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2"/>
          <p:cNvSpPr/>
          <p:nvPr/>
        </p:nvSpPr>
        <p:spPr>
          <a:xfrm>
            <a:off x="1042560" y="429840"/>
            <a:ext cx="9143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11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APPENDIX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ectangle 3"/>
          <p:cNvSpPr/>
          <p:nvPr/>
        </p:nvSpPr>
        <p:spPr>
          <a:xfrm>
            <a:off x="822960" y="768240"/>
            <a:ext cx="10514880" cy="11880"/>
          </a:xfrm>
          <a:prstGeom prst="rect">
            <a:avLst/>
          </a:prstGeom>
          <a:solidFill>
            <a:srgbClr val="2121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4"/>
          <p:cNvSpPr/>
          <p:nvPr/>
        </p:nvSpPr>
        <p:spPr>
          <a:xfrm>
            <a:off x="1829520" y="275040"/>
            <a:ext cx="10514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2200" strike="noStrike" u="none">
                <a:solidFill>
                  <a:srgbClr val="212121"/>
                </a:solidFill>
                <a:effectLst/>
                <a:uFillTx/>
                <a:latin typeface="Fraunces"/>
              </a:rPr>
              <a:t>Table 1 · Cohort description by treatment group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5" name="Table 5"/>
          <p:cNvGraphicFramePr/>
          <p:nvPr/>
        </p:nvGraphicFramePr>
        <p:xfrm>
          <a:off x="871560" y="808560"/>
          <a:ext cx="10617840" cy="6647040"/>
        </p:xfrm>
        <a:graphic>
          <a:graphicData uri="http://schemas.openxmlformats.org/drawingml/2006/table">
            <a:tbl>
              <a:tblPr/>
              <a:tblGrid>
                <a:gridCol w="2959560"/>
                <a:gridCol w="2147760"/>
                <a:gridCol w="1393920"/>
                <a:gridCol w="1690920"/>
                <a:gridCol w="1405800"/>
                <a:gridCol w="1019880"/>
              </a:tblGrid>
              <a:tr h="33876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0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Measure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b8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en-US" sz="80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Active Generic Medication (n=63)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b8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en-US" sz="80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GLP-1 Diabetes (n=7)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b8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en-US" sz="80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GLP-1 Weight (n=334)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b8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en-US" sz="80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Coaching (n=361)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b8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en-US" sz="80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Null (n=60)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b8"/>
                    </a:solidFill>
                  </a:tcPr>
                </a:tc>
              </a:tr>
              <a:tr h="20772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Female (ref = Male)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35 (55.6%)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4 (57.1%)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209 (62.6%)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203 (56.2%)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39 (65.0%)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  <a:tr h="20772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Active (ref = Finished)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55 (87.3%)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7 (100.0%)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324 (97.0%)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326 (90.3%)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51 (85.0%)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  <a:tr h="34776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0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Ethnicity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b8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b8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b8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b8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b8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b8"/>
                    </a:solidFill>
                  </a:tcPr>
                </a:tc>
              </a:tr>
              <a:tr h="20772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Am. Indian/Alaska Native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3 (4.8%)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0 (0.0%)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4 (1.2%)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4 (1.1%)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2 (3.3%)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  <a:tr h="20772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Asian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8 (12.7%)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1 (14.3%)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45 (13.5%)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53 (14.7%)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7 (11.7%)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  <a:tr h="20772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Black/African American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10 (15.9%)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2 (28.6%)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33 (9.9%)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54 (15.0%)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7 (11.7%)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  <a:tr h="20772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Hispanic/Latino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17 (27.0%)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0 (0.0%)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61 (18.3%)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72 (19.9%)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12 (20.0%)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  <a:tr h="20772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Native HI/Pacific Islander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1 (1.6%)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0 (0.0%)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2 (0.6%)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4 (1.1%)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0 (0.0%)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  <a:tr h="20772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White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29 (46.0%)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4 (57.1%)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213 (63.8%)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209 (57.9%)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31 (51.7%)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  <a:tr h="20772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Multiethnic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5 (7.9%)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0 (0.0%)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23 (6.9%)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31 (8.6%)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2 (3.3%)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  <a:tr h="20772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Not Reported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0 (0.0%)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0 (0.0%)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2 (0.6%)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0 (0.0%)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5 (8.3%)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  <a:tr h="34776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0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Modules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b8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b8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b8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b8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b8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b8"/>
                    </a:solidFill>
                  </a:tcPr>
                </a:tc>
              </a:tr>
              <a:tr h="20772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Core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3.3 (2.9)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8.4 (1.1)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7.7 (2.6)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1.2 (2.3)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1.6 (2.8)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  <a:tr h="20772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Mindset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0.1 (0.7)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0.0 (0.0)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1.1 (1.6)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0.0 (0.1)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0.0 (0.0)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  <a:tr h="20772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Nutrition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0.1 (0.5)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0.7 (1.5)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1.1 (1.6)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0.0 (0.0)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0.1 (0.4)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  <a:tr h="20772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Physical Activity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0.1 (0.4)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0.0 (0.0)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1.0 (1.6)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0.0 (0.4)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0.0 (0.1)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  <a:tr h="34776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0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Engagement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b8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b8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b8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b8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b8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b8"/>
                    </a:solidFill>
                  </a:tcPr>
                </a:tc>
              </a:tr>
              <a:tr h="20772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Average number of distinct events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13.0 (1.2)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13.6 (1.0)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13.7 (1.1)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7.6 (3.0)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8.9 (3.2)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  <a:tr h="20772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Average number of repeatable events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51.5 (29.0)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124.1 (26.4)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102.8 (36.3)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13.4 (16.5)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22.1 (29.4)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  <a:tr h="20772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Average repeatable rate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0.2 (0.2)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0.5 (0.1)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0.4 (0.1)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0.1 (0.1)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0.6 (1.9)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  <a:tr h="34776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0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Outcomes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b8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b8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b8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b8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b8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b8"/>
                    </a:solidFill>
                  </a:tcPr>
                </a:tc>
              </a:tr>
              <a:tr h="20772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First BW measure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229.5 (46.7)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266.8 (77.6)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230.4 (58.3)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214.0 (54.9)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233.0 (85.7)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  <a:tr h="20772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Second BW measure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222.9 (49.0)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238.4 (75.8)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212.7 (52.6)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213.2 (54.8)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231.3 (86.1)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  <a:tr h="20772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Difference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6.6 (14.4)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28.4 (11.0)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17.8 (16.7)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0.8 (6.7)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1.7 (7.6)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  <a:tr h="34776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80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Study Measures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b8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b8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b8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b8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b8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deb8"/>
                    </a:solidFill>
                  </a:tcPr>
                </a:tc>
              </a:tr>
              <a:tr h="20772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Days between measurements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134.0 (70.5)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232.1 (24.8)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204.7 (46.7)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53.7 (76.6)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51.1 (77.7)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  <a:tr h="20772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Length in Study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233.1 (39.9)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252.6 (8.9)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247.0 (16.6)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236.4 (23.6)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750" strike="noStrike" u="none">
                          <a:solidFill>
                            <a:srgbClr val="212121"/>
                          </a:solidFill>
                          <a:effectLst/>
                          <a:uFillTx/>
                          <a:latin typeface="Inter"/>
                        </a:rPr>
                        <a:t>202.2 (86.5)</a:t>
                      </a:r>
                      <a:endParaRPr b="0" lang="en-US" sz="7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cf3"/>
                    </a:solidFill>
                  </a:tcPr>
                </a:tc>
              </a:tr>
            </a:tbl>
          </a:graphicData>
        </a:graphic>
      </p:graphicFrame>
      <p:pic>
        <p:nvPicPr>
          <p:cNvPr id="136" name="Picture 6" descr="strip_afternoon.png"/>
          <p:cNvPicPr/>
          <p:nvPr/>
        </p:nvPicPr>
        <p:blipFill>
          <a:blip r:embed="rId1"/>
          <a:stretch/>
        </p:blipFill>
        <p:spPr>
          <a:xfrm>
            <a:off x="0" y="6327720"/>
            <a:ext cx="12191040" cy="11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TextBox 7"/>
          <p:cNvSpPr/>
          <p:nvPr/>
        </p:nvSpPr>
        <p:spPr>
          <a:xfrm>
            <a:off x="822960" y="65106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9amHealth · Data Analyst Case Study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8"/>
          <p:cNvSpPr/>
          <p:nvPr/>
        </p:nvSpPr>
        <p:spPr>
          <a:xfrm>
            <a:off x="11521440" y="651060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9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c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822960" y="511920"/>
            <a:ext cx="127440" cy="127440"/>
          </a:xfrm>
          <a:prstGeom prst="rect">
            <a:avLst/>
          </a:prstGeom>
          <a:solidFill>
            <a:srgbClr val="80ae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2"/>
          <p:cNvSpPr/>
          <p:nvPr/>
        </p:nvSpPr>
        <p:spPr>
          <a:xfrm>
            <a:off x="1042560" y="429840"/>
            <a:ext cx="9143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11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APPENDIX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3"/>
          <p:cNvSpPr/>
          <p:nvPr/>
        </p:nvSpPr>
        <p:spPr>
          <a:xfrm>
            <a:off x="822960" y="768240"/>
            <a:ext cx="10514880" cy="11880"/>
          </a:xfrm>
          <a:prstGeom prst="rect">
            <a:avLst/>
          </a:prstGeom>
          <a:solidFill>
            <a:srgbClr val="2121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4"/>
          <p:cNvSpPr/>
          <p:nvPr/>
        </p:nvSpPr>
        <p:spPr>
          <a:xfrm>
            <a:off x="822960" y="868680"/>
            <a:ext cx="10514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2600" strike="noStrike" u="none">
                <a:solidFill>
                  <a:srgbClr val="212121"/>
                </a:solidFill>
                <a:effectLst/>
                <a:uFillTx/>
                <a:latin typeface="Fraunces"/>
              </a:rPr>
              <a:t>Locked-model coefficients (HC3)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3" name="Picture 5" descr="coef_table.png"/>
          <p:cNvPicPr/>
          <p:nvPr/>
        </p:nvPicPr>
        <p:blipFill>
          <a:blip r:embed="rId1"/>
          <a:stretch/>
        </p:blipFill>
        <p:spPr>
          <a:xfrm>
            <a:off x="1280160" y="1783080"/>
            <a:ext cx="9600480" cy="454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4" name="Picture 6" descr="strip_afternoon.png"/>
          <p:cNvPicPr/>
          <p:nvPr/>
        </p:nvPicPr>
        <p:blipFill>
          <a:blip r:embed="rId2"/>
          <a:stretch/>
        </p:blipFill>
        <p:spPr>
          <a:xfrm>
            <a:off x="0" y="6327720"/>
            <a:ext cx="12191040" cy="11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Box 7"/>
          <p:cNvSpPr/>
          <p:nvPr/>
        </p:nvSpPr>
        <p:spPr>
          <a:xfrm>
            <a:off x="822960" y="65106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9amHealth · Data Analyst Case Study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8"/>
          <p:cNvSpPr/>
          <p:nvPr/>
        </p:nvSpPr>
        <p:spPr>
          <a:xfrm>
            <a:off x="11521440" y="651060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10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c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 1"/>
          <p:cNvSpPr/>
          <p:nvPr/>
        </p:nvSpPr>
        <p:spPr>
          <a:xfrm>
            <a:off x="822960" y="511920"/>
            <a:ext cx="127440" cy="127440"/>
          </a:xfrm>
          <a:prstGeom prst="rect">
            <a:avLst/>
          </a:prstGeom>
          <a:solidFill>
            <a:srgbClr val="ffbd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2"/>
          <p:cNvSpPr/>
          <p:nvPr/>
        </p:nvSpPr>
        <p:spPr>
          <a:xfrm>
            <a:off x="1042560" y="429840"/>
            <a:ext cx="9143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11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APPENDIX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ectangle 3"/>
          <p:cNvSpPr/>
          <p:nvPr/>
        </p:nvSpPr>
        <p:spPr>
          <a:xfrm>
            <a:off x="822960" y="768240"/>
            <a:ext cx="10514880" cy="11880"/>
          </a:xfrm>
          <a:prstGeom prst="rect">
            <a:avLst/>
          </a:prstGeom>
          <a:solidFill>
            <a:srgbClr val="2121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4"/>
          <p:cNvSpPr/>
          <p:nvPr/>
        </p:nvSpPr>
        <p:spPr>
          <a:xfrm>
            <a:off x="822960" y="868680"/>
            <a:ext cx="10514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2600" strike="noStrike" u="none">
                <a:solidFill>
                  <a:srgbClr val="212121"/>
                </a:solidFill>
                <a:effectLst/>
                <a:uFillTx/>
                <a:latin typeface="Fraunces"/>
              </a:rPr>
              <a:t>Power &amp; precision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" name="Picture 5" descr="power_precision.png"/>
          <p:cNvPicPr/>
          <p:nvPr/>
        </p:nvPicPr>
        <p:blipFill>
          <a:blip r:embed="rId1"/>
          <a:stretch/>
        </p:blipFill>
        <p:spPr>
          <a:xfrm>
            <a:off x="914400" y="1783080"/>
            <a:ext cx="10332000" cy="516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" name="Picture 6" descr="strip_afternoon.png"/>
          <p:cNvPicPr/>
          <p:nvPr/>
        </p:nvPicPr>
        <p:blipFill>
          <a:blip r:embed="rId2"/>
          <a:stretch/>
        </p:blipFill>
        <p:spPr>
          <a:xfrm>
            <a:off x="0" y="6327720"/>
            <a:ext cx="12191040" cy="11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TextBox 7"/>
          <p:cNvSpPr/>
          <p:nvPr/>
        </p:nvSpPr>
        <p:spPr>
          <a:xfrm>
            <a:off x="822960" y="65106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9amHealth · Data Analyst Case Study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8"/>
          <p:cNvSpPr/>
          <p:nvPr/>
        </p:nvSpPr>
        <p:spPr>
          <a:xfrm>
            <a:off x="11521440" y="651060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900" strike="noStrike" u="none">
                <a:solidFill>
                  <a:srgbClr val="212121"/>
                </a:solidFill>
                <a:effectLst/>
                <a:uFillTx/>
                <a:latin typeface="Inter"/>
              </a:rPr>
              <a:t>11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LibreOffice/25.2.3.2$Linux_X86_64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2026-08-31T13:02:13Z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